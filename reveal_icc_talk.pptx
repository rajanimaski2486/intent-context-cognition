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4" r:id="rId2"/>
  </p:sldMasterIdLst>
  <p:notesMasterIdLst>
    <p:notesMasterId r:id="rId8"/>
  </p:notesMasterIdLst>
  <p:sldIdLst>
    <p:sldId id="264" r:id="rId3"/>
    <p:sldId id="257" r:id="rId4"/>
    <p:sldId id="262" r:id="rId5"/>
    <p:sldId id="263" r:id="rId6"/>
    <p:sldId id="261" r:id="rId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j56mqjPzynyLRL3Vq7tB93F2H9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5F2"/>
    <a:srgbClr val="15395A"/>
    <a:srgbClr val="5B2032"/>
    <a:srgbClr val="CEE4F1"/>
    <a:srgbClr val="3070B5"/>
    <a:srgbClr val="8F24FF"/>
    <a:srgbClr val="340093"/>
    <a:srgbClr val="4D00D5"/>
    <a:srgbClr val="1B6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 showGuides="1">
      <p:cViewPr varScale="1">
        <p:scale>
          <a:sx n="133" d="100"/>
          <a:sy n="133" d="100"/>
        </p:scale>
        <p:origin x="150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4" Type="http://schemas.openxmlformats.org/officeDocument/2006/relationships/slide" Target="slides/slide2.xml"/><Relationship Id="rId14" Type="http://schemas.openxmlformats.org/officeDocument/2006/relationships/presProps" Target="presProps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Layouts/_rels/slideLayout3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Layouts/_rels/slideLayout4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CEE4F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AE5FDF-0858-AAFB-D3CB-A33F36EDB926}"/>
              </a:ext>
            </a:extLst>
          </p:cNvPr>
          <p:cNvSpPr/>
          <p:nvPr userDrawn="1"/>
        </p:nvSpPr>
        <p:spPr>
          <a:xfrm>
            <a:off x="5035296" y="1962912"/>
            <a:ext cx="2145792" cy="1682496"/>
          </a:xfrm>
          <a:prstGeom prst="rect">
            <a:avLst/>
          </a:prstGeom>
          <a:solidFill>
            <a:srgbClr val="CEE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7;p8"/>
          <p:cNvSpPr txBox="1">
            <a:spLocks noGrp="1"/>
          </p:cNvSpPr>
          <p:nvPr>
            <p:ph type="title"/>
          </p:nvPr>
        </p:nvSpPr>
        <p:spPr>
          <a:xfrm>
            <a:off x="570023" y="1711605"/>
            <a:ext cx="7497417" cy="214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0" tIns="288000" rIns="288000" bIns="2880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rgbClr val="15395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8"/>
          <p:cNvSpPr txBox="1">
            <a:spLocks noGrp="1"/>
          </p:cNvSpPr>
          <p:nvPr>
            <p:ph type="body" idx="1"/>
          </p:nvPr>
        </p:nvSpPr>
        <p:spPr>
          <a:xfrm>
            <a:off x="564572" y="3858458"/>
            <a:ext cx="7478367" cy="4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BBC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070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BBC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BBC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BBC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BBC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CD1DEF4-E89E-7FB3-19D6-DE996D3175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2911" y="3357408"/>
            <a:ext cx="918936" cy="576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3B81143-DC04-DEE7-4961-E586C54F21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4538" y="4507200"/>
            <a:ext cx="1044486" cy="48903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09D1C86-0E06-DACC-9EA1-8C0EBF4AC04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17318" y="2857163"/>
            <a:ext cx="951637" cy="9516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D66DCA9-F154-5AF9-0786-07D54A85F48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7530" y="478063"/>
            <a:ext cx="3840523" cy="76923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73CDD89-B4EA-5407-6DE3-6E6C3492ED9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84800" y="3794872"/>
            <a:ext cx="6925457" cy="306312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solidFill>
          <a:srgbClr val="CEE4F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/>
          <p:nvPr/>
        </p:nvSpPr>
        <p:spPr>
          <a:xfrm>
            <a:off x="0" y="985449"/>
            <a:ext cx="12192000" cy="54352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3C25969-1527-37B2-04F9-F554812DB2F2}"/>
              </a:ext>
            </a:extLst>
          </p:cNvPr>
          <p:cNvGrpSpPr/>
          <p:nvPr userDrawn="1"/>
        </p:nvGrpSpPr>
        <p:grpSpPr>
          <a:xfrm>
            <a:off x="10127543" y="5322457"/>
            <a:ext cx="2075514" cy="1549942"/>
            <a:chOff x="10127543" y="5322457"/>
            <a:chExt cx="2075514" cy="154994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688F60BF-0536-3BAA-22C9-4B58624077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11405" y="5763467"/>
              <a:ext cx="348057" cy="218167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ECD6897-4514-7F8C-04EE-0C8FD8566F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2544" y="5740834"/>
              <a:ext cx="395611" cy="18522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A975F4E-DCD0-7772-8445-397E55D515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768883" y="5322457"/>
              <a:ext cx="360443" cy="360443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A60E71AF-5998-DE60-FBBD-7BA24EC700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27543" y="5954400"/>
              <a:ext cx="2075514" cy="917999"/>
            </a:xfrm>
            <a:prstGeom prst="rect">
              <a:avLst/>
            </a:prstGeom>
          </p:spPr>
        </p:pic>
      </p:grpSp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333845" y="281562"/>
            <a:ext cx="9220555" cy="40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15395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5" name="Google Shape;15;p9"/>
          <p:cNvSpPr txBox="1">
            <a:spLocks noGrp="1"/>
          </p:cNvSpPr>
          <p:nvPr>
            <p:ph type="body" idx="1"/>
          </p:nvPr>
        </p:nvSpPr>
        <p:spPr>
          <a:xfrm>
            <a:off x="333845" y="1457889"/>
            <a:ext cx="11000906" cy="467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70B5"/>
              </a:buClr>
              <a:buSzPts val="2800"/>
              <a:buFont typeface="Arial" panose="020B0604020202020204" pitchFamily="34" charset="0"/>
              <a:buChar char="•"/>
              <a:defRPr sz="2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911FBB6-08EF-097D-6D22-77CB12DFB4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75958" y="264283"/>
            <a:ext cx="2273147" cy="4552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 preserve="1" userDrawn="1">
  <p:cSld name="4_Custom Layout">
    <p:bg>
      <p:bgPr>
        <a:solidFill>
          <a:srgbClr val="CEE4F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/>
          <p:nvPr/>
        </p:nvSpPr>
        <p:spPr>
          <a:xfrm>
            <a:off x="0" y="985449"/>
            <a:ext cx="12192000" cy="54352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0FB267-4AAF-3990-CD82-A52C210A80FF}"/>
              </a:ext>
            </a:extLst>
          </p:cNvPr>
          <p:cNvGrpSpPr/>
          <p:nvPr userDrawn="1"/>
        </p:nvGrpSpPr>
        <p:grpSpPr>
          <a:xfrm>
            <a:off x="10127543" y="5322457"/>
            <a:ext cx="2075514" cy="1549942"/>
            <a:chOff x="10127543" y="5322457"/>
            <a:chExt cx="2075514" cy="154994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FCC809F-DF10-4F97-9F21-AA2AE69560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11405" y="5763467"/>
              <a:ext cx="348057" cy="218167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F865F5C-C0EB-956D-BB0F-EDA8B7B9AF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2544" y="5740834"/>
              <a:ext cx="395611" cy="185228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20DF1D61-1290-0B9C-5FC0-091D6F15A5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768883" y="5322457"/>
              <a:ext cx="360443" cy="36044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147F862-15F5-9B7F-33CF-F283B9E180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27543" y="5954400"/>
              <a:ext cx="2075514" cy="917999"/>
            </a:xfrm>
            <a:prstGeom prst="rect">
              <a:avLst/>
            </a:prstGeom>
          </p:spPr>
        </p:pic>
      </p:grpSp>
      <p:sp>
        <p:nvSpPr>
          <p:cNvPr id="15" name="Google Shape;15;p9"/>
          <p:cNvSpPr txBox="1">
            <a:spLocks noGrp="1"/>
          </p:cNvSpPr>
          <p:nvPr>
            <p:ph type="body" idx="1"/>
          </p:nvPr>
        </p:nvSpPr>
        <p:spPr>
          <a:xfrm>
            <a:off x="333845" y="1457889"/>
            <a:ext cx="11000906" cy="467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70B5"/>
              </a:buClr>
              <a:buSzPts val="2800"/>
              <a:buFont typeface="Arial" panose="020B0604020202020204" pitchFamily="34" charset="0"/>
              <a:buChar char="•"/>
              <a:defRPr sz="2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" name="Google Shape;14;p9">
            <a:extLst>
              <a:ext uri="{FF2B5EF4-FFF2-40B4-BE49-F238E27FC236}">
                <a16:creationId xmlns:a16="http://schemas.microsoft.com/office/drawing/2014/main" id="{187BD040-FC1A-8989-501B-4B9A6BDEB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845" y="281562"/>
            <a:ext cx="9220555" cy="40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15395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FD09E8F-2468-E2F5-8A17-FFE71B0EF77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75958" y="264283"/>
            <a:ext cx="2273147" cy="4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 preserve="1" userDrawn="1">
  <p:cSld name="4_Custom Layout">
    <p:bg>
      <p:bgPr>
        <a:solidFill>
          <a:srgbClr val="CEE4F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/>
          <p:nvPr userDrawn="1"/>
        </p:nvSpPr>
        <p:spPr>
          <a:xfrm>
            <a:off x="0" y="985449"/>
            <a:ext cx="12192000" cy="54352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602C6-09CD-066F-5991-B77F0BD7BF05}"/>
              </a:ext>
            </a:extLst>
          </p:cNvPr>
          <p:cNvGrpSpPr/>
          <p:nvPr userDrawn="1"/>
        </p:nvGrpSpPr>
        <p:grpSpPr>
          <a:xfrm>
            <a:off x="10127543" y="5322457"/>
            <a:ext cx="2075514" cy="1549942"/>
            <a:chOff x="10127543" y="5322457"/>
            <a:chExt cx="2075514" cy="1549942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A2EA225-24D2-C82B-B35E-20714E8F51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11405" y="5763467"/>
              <a:ext cx="348057" cy="218167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EDECB24-4B33-690B-76AA-B3DAFEB87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2544" y="5740834"/>
              <a:ext cx="395611" cy="18522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BEBA594-5F4D-E8E1-E224-5E63A52DE6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768883" y="5322457"/>
              <a:ext cx="360443" cy="360443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85B53094-0A1E-2014-0365-12904C0AEC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27543" y="5954400"/>
              <a:ext cx="2075514" cy="917999"/>
            </a:xfrm>
            <a:prstGeom prst="rect">
              <a:avLst/>
            </a:prstGeom>
          </p:spPr>
        </p:pic>
      </p:grpSp>
      <p:sp>
        <p:nvSpPr>
          <p:cNvPr id="7" name="Google Shape;22;p10">
            <a:extLst>
              <a:ext uri="{FF2B5EF4-FFF2-40B4-BE49-F238E27FC236}">
                <a16:creationId xmlns:a16="http://schemas.microsoft.com/office/drawing/2014/main" id="{E1CE1357-7E74-8136-6EF6-1F0BCF911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1896" y="1455995"/>
            <a:ext cx="5131903" cy="421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70B5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23;p10">
            <a:extLst>
              <a:ext uri="{FF2B5EF4-FFF2-40B4-BE49-F238E27FC236}">
                <a16:creationId xmlns:a16="http://schemas.microsoft.com/office/drawing/2014/main" id="{F2A9CABA-D27A-30C5-600C-9C540107957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38613" y="1455995"/>
            <a:ext cx="5131903" cy="421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70B5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" name="Google Shape;14;p9">
            <a:extLst>
              <a:ext uri="{FF2B5EF4-FFF2-40B4-BE49-F238E27FC236}">
                <a16:creationId xmlns:a16="http://schemas.microsoft.com/office/drawing/2014/main" id="{7EB77083-8EAF-0CD6-C2D1-C1DD46131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845" y="281562"/>
            <a:ext cx="9220555" cy="40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15395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61B3403-6271-4128-6BEE-689233439AF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75958" y="264283"/>
            <a:ext cx="2273147" cy="4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sv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image" Target="../media/image10.svg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4F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4F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1E8B4AD-D35F-001C-1782-0702FFC888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0" y="1461844"/>
            <a:ext cx="12200228" cy="539615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138DD27-C7D5-C825-8388-AD9A3089753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988" y="1746320"/>
            <a:ext cx="1255205" cy="7867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C6A35DF-4182-4D3D-E0B6-5F580AB0FDC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3490" y="2170828"/>
            <a:ext cx="1547482" cy="72454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F5025E8-A43A-B067-84ED-AEC72F15B2B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93185" y="956678"/>
            <a:ext cx="1255205" cy="125520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7F8B44B-60E3-BC8F-3DF1-2E455D2A4C3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7530" y="478062"/>
            <a:ext cx="4911670" cy="983781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Generative Discovery on OpenSearch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Intent, Context, Cognition</a:t>
            </a:r>
          </a:p>
        </p:txBody>
      </p:sp>
      <p:sp>
        <p:nvSpPr>
          <p:cNvPr id="3" name="Author"/>
          <p:cNvSpPr txBox="1">
            <a:spLocks noGrp="1"/>
          </p:cNvSpPr>
          <p:nvPr/>
        </p:nvSpPr>
        <p:spPr>
          <a:xfrm>
            <a:off x="333845" y="900000"/>
            <a:ext cx="10834898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373839"/>
                </a:solidFill>
              </a:rPr>
              <a:t>Rajani Maski  ·  Staff Software Engineer, AI  ·  Shutterstock</a:t>
            </a:r>
          </a:p>
          <a:p>
            <a:pPr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7FBBC0"/>
                </a:solidFill>
              </a:rPr>
              <a:t>OpenSearchCon India 2026  ·  June 15, 2026</a:t>
            </a:r>
          </a:p>
        </p:txBody>
      </p:sp>
      <p:sp>
        <p:nvSpPr>
          <p:cNvPr id="4" name="Tagline"/>
          <p:cNvSpPr txBox="1">
            <a:spLocks noGrp="1"/>
          </p:cNvSpPr>
          <p:nvPr/>
        </p:nvSpPr>
        <p:spPr>
          <a:xfrm>
            <a:off x="333845" y="3200000"/>
            <a:ext cx="10834898" cy="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5395A"/>
                </a:solidFill>
              </a:rPr>
              <a:t>Search finds.  Reveal discovers.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33845" y="3750000"/>
            <a:ext cx="10834898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3070B5"/>
                </a:solidFill>
              </a:rPr>
              <a:t>A production story from one of the world's largest licensed creative libraries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Why this matters: search at Shutterstock scale</a:t>
            </a:r>
          </a:p>
        </p:txBody>
      </p:sp>
      <p:sp>
        <p:nvSpPr>
          <p:cNvPr id="10" name="StatBg0"/>
          <p:cNvSpPr>
            <a:spLocks noGrp="1"/>
          </p:cNvSpPr>
          <p:nvPr/>
        </p:nvSpPr>
        <p:spPr>
          <a:xfrm>
            <a:off x="411480" y="950000"/>
            <a:ext cx="3300000" cy="1600000"/>
          </a:xfrm>
          <a:prstGeom prst="roundRect">
            <a:avLst>
              <a:gd name="adj" fmla="val 50000"/>
            </a:avLst>
          </a:prstGeom>
          <a:solidFill>
            <a:srgbClr val="E8F4FB"/>
          </a:solidFill>
          <a:ln w="9525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tatNum0"/>
          <p:cNvSpPr txBox="1">
            <a:spLocks noGrp="1"/>
          </p:cNvSpPr>
          <p:nvPr/>
        </p:nvSpPr>
        <p:spPr>
          <a:xfrm>
            <a:off x="411480" y="1200000"/>
            <a:ext cx="3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15395A"/>
                </a:solidFill>
              </a:rPr>
              <a:t>2,000+</a:t>
            </a:r>
          </a:p>
        </p:txBody>
      </p:sp>
      <p:sp>
        <p:nvSpPr>
          <p:cNvPr id="30" name="StatLbl0"/>
          <p:cNvSpPr txBox="1">
            <a:spLocks noGrp="1"/>
          </p:cNvSpPr>
          <p:nvPr/>
        </p:nvSpPr>
        <p:spPr>
          <a:xfrm>
            <a:off x="411480" y="1900000"/>
            <a:ext cx="3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requests per second</a:t>
            </a:r>
          </a:p>
        </p:txBody>
      </p:sp>
      <p:sp>
        <p:nvSpPr>
          <p:cNvPr id="11" name="StatBg1"/>
          <p:cNvSpPr>
            <a:spLocks noGrp="1"/>
          </p:cNvSpPr>
          <p:nvPr/>
        </p:nvSpPr>
        <p:spPr>
          <a:xfrm>
            <a:off x="4051480" y="950000"/>
            <a:ext cx="3300000" cy="1600000"/>
          </a:xfrm>
          <a:prstGeom prst="roundRect">
            <a:avLst>
              <a:gd name="adj" fmla="val 50000"/>
            </a:avLst>
          </a:prstGeom>
          <a:solidFill>
            <a:srgbClr val="E8F4FB"/>
          </a:solidFill>
          <a:ln w="9525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StatNum1"/>
          <p:cNvSpPr txBox="1">
            <a:spLocks noGrp="1"/>
          </p:cNvSpPr>
          <p:nvPr/>
        </p:nvSpPr>
        <p:spPr>
          <a:xfrm>
            <a:off x="4051480" y="1200000"/>
            <a:ext cx="3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15395A"/>
                </a:solidFill>
              </a:rPr>
              <a:t>700M+</a:t>
            </a:r>
          </a:p>
        </p:txBody>
      </p:sp>
      <p:sp>
        <p:nvSpPr>
          <p:cNvPr id="31" name="StatLbl1"/>
          <p:cNvSpPr txBox="1">
            <a:spLocks noGrp="1"/>
          </p:cNvSpPr>
          <p:nvPr/>
        </p:nvSpPr>
        <p:spPr>
          <a:xfrm>
            <a:off x="4051480" y="1900000"/>
            <a:ext cx="3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creative assets</a:t>
            </a:r>
          </a:p>
        </p:txBody>
      </p:sp>
      <p:sp>
        <p:nvSpPr>
          <p:cNvPr id="12" name="StatBg2"/>
          <p:cNvSpPr>
            <a:spLocks noGrp="1"/>
          </p:cNvSpPr>
          <p:nvPr/>
        </p:nvSpPr>
        <p:spPr>
          <a:xfrm>
            <a:off x="7691480" y="950000"/>
            <a:ext cx="3300000" cy="1600000"/>
          </a:xfrm>
          <a:prstGeom prst="roundRect">
            <a:avLst>
              <a:gd name="adj" fmla="val 50000"/>
            </a:avLst>
          </a:prstGeom>
          <a:solidFill>
            <a:srgbClr val="E8F4FB"/>
          </a:solidFill>
          <a:ln w="9525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StatNum2"/>
          <p:cNvSpPr txBox="1">
            <a:spLocks noGrp="1"/>
          </p:cNvSpPr>
          <p:nvPr/>
        </p:nvSpPr>
        <p:spPr>
          <a:xfrm>
            <a:off x="7691480" y="1200000"/>
            <a:ext cx="3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15395A"/>
                </a:solidFill>
              </a:rPr>
              <a:t>&lt; 50ms</a:t>
            </a:r>
          </a:p>
        </p:txBody>
      </p:sp>
      <p:sp>
        <p:nvSpPr>
          <p:cNvPr id="32" name="StatLbl2"/>
          <p:cNvSpPr txBox="1">
            <a:spLocks noGrp="1"/>
          </p:cNvSpPr>
          <p:nvPr/>
        </p:nvSpPr>
        <p:spPr>
          <a:xfrm>
            <a:off x="7691480" y="1900000"/>
            <a:ext cx="3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p99 latency target</a:t>
            </a:r>
          </a:p>
        </p:txBody>
      </p:sp>
      <p:sp>
        <p:nvSpPr>
          <p:cNvPr id="40" name="Line40"/>
          <p:cNvSpPr>
            <a:spLocks noGrp="1"/>
          </p:cNvSpPr>
          <p:nvPr/>
        </p:nvSpPr>
        <p:spPr>
          <a:xfrm>
            <a:off x="411480" y="2700000"/>
            <a:ext cx="11369040" cy="0"/>
          </a:xfrm>
          <a:prstGeom prst="line">
            <a:avLst/>
          </a:prstGeom>
          <a:noFill/>
          <a:ln w="9525">
            <a:solidFill>
              <a:srgbClr val="3070B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Problem"/>
          <p:cNvSpPr txBox="1">
            <a:spLocks noGrp="1"/>
          </p:cNvSpPr>
          <p:nvPr/>
        </p:nvSpPr>
        <p:spPr>
          <a:xfrm>
            <a:off x="411480" y="2850000"/>
            <a:ext cx="1136904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73839"/>
                </a:solidFill>
              </a:rPr>
              <a:t xml:space="preserve">At this scale, the difference between finding what a user </a:t>
            </a:r>
            <a:r>
              <a:rPr lang="en-US" sz="2000" b="1" dirty="0">
                <a:solidFill>
                  <a:srgbClr val="15395A"/>
                </a:solidFill>
              </a:rPr>
              <a:t>typed</a:t>
            </a:r>
            <a:r>
              <a:rPr lang="en-US" sz="2000" dirty="0">
                <a:solidFill>
                  <a:srgbClr val="373839"/>
                </a:solidFill>
              </a:rPr>
              <a:t xml:space="preserve">  and what they </a:t>
            </a:r>
            <a:r>
              <a:rPr lang="en-US" sz="2000" b="1" dirty="0">
                <a:solidFill>
                  <a:srgbClr val="3EB54A"/>
                </a:solidFill>
              </a:rPr>
              <a:t>meant</a:t>
            </a:r>
            <a:r>
              <a:rPr lang="en-US" sz="2000" dirty="0">
                <a:solidFill>
                  <a:srgbClr val="373839"/>
                </a:solidFill>
              </a:rPr>
              <a:t xml:space="preserve">  is not a feature — it is the product.</a:t>
            </a:r>
          </a:p>
        </p:txBody>
      </p:sp>
      <p:sp>
        <p:nvSpPr>
          <p:cNvPr id="42" name="Legacy"/>
          <p:cNvSpPr txBox="1">
            <a:spLocks noGrp="1"/>
          </p:cNvSpPr>
          <p:nvPr/>
        </p:nvSpPr>
        <p:spPr>
          <a:xfrm>
            <a:off x="411480" y="3700000"/>
            <a:ext cx="11369040" cy="12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700" b="1" dirty="0">
                <a:solidFill>
                  <a:srgbClr val="15395A"/>
                </a:solidFill>
              </a:rPr>
              <a:t xml:space="preserve">Legacy keyword search: </a:t>
            </a:r>
            <a:r>
              <a:rPr lang="en-US" sz="1700" dirty="0">
                <a:solidFill>
                  <a:srgbClr val="373839"/>
                </a:solidFill>
              </a:rPr>
              <a:t>BM25 tokenises queries, scores TF-IDF matches, returns documents containing your words.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3EB54A"/>
                </a:solidFill>
              </a:rPr>
              <a:t xml:space="preserve">Generative Discovery: </a:t>
            </a:r>
            <a:r>
              <a:rPr lang="en-US" sz="1700" dirty="0">
                <a:solidFill>
                  <a:srgbClr val="373839"/>
                </a:solidFill>
              </a:rPr>
              <a:t>encodes intent as a vector, builds session context, applies cognition to surface what users did not know to ask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Three principles of Generative Discovery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Each principle is a demo section — and together they form the Journey</a:t>
            </a:r>
          </a:p>
        </p:txBody>
      </p:sp>
      <p:sp>
        <p:nvSpPr>
          <p:cNvPr id="10" name="PillarBg0"/>
          <p:cNvSpPr>
            <a:spLocks noGrp="1"/>
          </p:cNvSpPr>
          <p:nvPr/>
        </p:nvSpPr>
        <p:spPr>
          <a:xfrm>
            <a:off x="411480" y="950000"/>
            <a:ext cx="2550000" cy="4800000"/>
          </a:xfrm>
          <a:prstGeom prst="roundRect">
            <a:avLst>
              <a:gd name="adj" fmla="val 30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Badge20"/>
          <p:cNvSpPr txBox="1">
            <a:spLocks noGrp="1"/>
          </p:cNvSpPr>
          <p:nvPr/>
        </p:nvSpPr>
        <p:spPr>
          <a:xfrm>
            <a:off x="986480" y="1150000"/>
            <a:ext cx="1400000" cy="350000"/>
          </a:xfrm>
          <a:prstGeom prst="rect">
            <a:avLst/>
          </a:prstGeom>
          <a:solidFill>
            <a:srgbClr val="3070B5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Intent</a:t>
            </a:r>
          </a:p>
        </p:txBody>
      </p:sp>
      <p:sp>
        <p:nvSpPr>
          <p:cNvPr id="30" name="PillarDesc0"/>
          <p:cNvSpPr txBox="1">
            <a:spLocks noGrp="1"/>
          </p:cNvSpPr>
          <p:nvPr/>
        </p:nvSpPr>
        <p:spPr>
          <a:xfrm>
            <a:off x="491480" y="1650000"/>
            <a:ext cx="2390000" cy="1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395A"/>
                </a:solidFill>
              </a:rPr>
              <a:t>Encode what they mean, not what they say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Multimodal signals → dense vector → OpenSearch k-NN</a:t>
            </a:r>
          </a:p>
        </p:txBody>
      </p:sp>
      <p:sp>
        <p:nvSpPr>
          <p:cNvPr id="11" name="PillarBg1"/>
          <p:cNvSpPr>
            <a:spLocks noGrp="1"/>
          </p:cNvSpPr>
          <p:nvPr/>
        </p:nvSpPr>
        <p:spPr>
          <a:xfrm>
            <a:off x="3161480" y="950000"/>
            <a:ext cx="2550000" cy="4800000"/>
          </a:xfrm>
          <a:prstGeom prst="roundRect">
            <a:avLst>
              <a:gd name="adj" fmla="val 30000"/>
            </a:avLst>
          </a:prstGeom>
          <a:solidFill>
            <a:srgbClr val="E8F4FB"/>
          </a:solidFill>
          <a:ln w="18000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Badge21"/>
          <p:cNvSpPr txBox="1">
            <a:spLocks noGrp="1"/>
          </p:cNvSpPr>
          <p:nvPr/>
        </p:nvSpPr>
        <p:spPr>
          <a:xfrm>
            <a:off x="3736480" y="1150000"/>
            <a:ext cx="1400000" cy="350000"/>
          </a:xfrm>
          <a:prstGeom prst="rect">
            <a:avLst/>
          </a:prstGeom>
          <a:solidFill>
            <a:srgbClr val="3EB54A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31" name="PillarDesc1"/>
          <p:cNvSpPr txBox="1">
            <a:spLocks noGrp="1"/>
          </p:cNvSpPr>
          <p:nvPr/>
        </p:nvSpPr>
        <p:spPr>
          <a:xfrm>
            <a:off x="3241480" y="1650000"/>
            <a:ext cx="2390000" cy="1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395A"/>
                </a:solidFill>
              </a:rPr>
              <a:t>Session state is a correctness requirement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Recency-weighted embedding accumulation → session-conditioned retrieval</a:t>
            </a:r>
          </a:p>
        </p:txBody>
      </p:sp>
      <p:sp>
        <p:nvSpPr>
          <p:cNvPr id="12" name="PillarBg2"/>
          <p:cNvSpPr>
            <a:spLocks noGrp="1"/>
          </p:cNvSpPr>
          <p:nvPr/>
        </p:nvSpPr>
        <p:spPr>
          <a:xfrm>
            <a:off x="5911480" y="950000"/>
            <a:ext cx="2550000" cy="4800000"/>
          </a:xfrm>
          <a:prstGeom prst="roundRect">
            <a:avLst>
              <a:gd name="adj" fmla="val 30000"/>
            </a:avLst>
          </a:prstGeom>
          <a:solidFill>
            <a:srgbClr val="E8F4FB"/>
          </a:solidFill>
          <a:ln w="18000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Badge22"/>
          <p:cNvSpPr txBox="1">
            <a:spLocks noGrp="1"/>
          </p:cNvSpPr>
          <p:nvPr/>
        </p:nvSpPr>
        <p:spPr>
          <a:xfrm>
            <a:off x="6486480" y="1150000"/>
            <a:ext cx="1400000" cy="350000"/>
          </a:xfrm>
          <a:prstGeom prst="rect">
            <a:avLst/>
          </a:prstGeom>
          <a:solidFill>
            <a:srgbClr val="FBAE4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Cognition</a:t>
            </a:r>
          </a:p>
        </p:txBody>
      </p:sp>
      <p:sp>
        <p:nvSpPr>
          <p:cNvPr id="32" name="PillarDesc2"/>
          <p:cNvSpPr txBox="1">
            <a:spLocks noGrp="1"/>
          </p:cNvSpPr>
          <p:nvPr/>
        </p:nvSpPr>
        <p:spPr>
          <a:xfrm>
            <a:off x="5991480" y="1650000"/>
            <a:ext cx="2390000" cy="1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395A"/>
                </a:solidFill>
              </a:rPr>
              <a:t>Agents reason before they retrieve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LLM decomposition → parallel k-NN → merge + re-rank</a:t>
            </a:r>
          </a:p>
        </p:txBody>
      </p:sp>
      <p:sp>
        <p:nvSpPr>
          <p:cNvPr id="13" name="PillarBg3"/>
          <p:cNvSpPr>
            <a:spLocks noGrp="1"/>
          </p:cNvSpPr>
          <p:nvPr/>
        </p:nvSpPr>
        <p:spPr>
          <a:xfrm>
            <a:off x="8661480" y="950000"/>
            <a:ext cx="2550000" cy="4800000"/>
          </a:xfrm>
          <a:prstGeom prst="roundRect">
            <a:avLst>
              <a:gd name="adj" fmla="val 30000"/>
            </a:avLst>
          </a:prstGeom>
          <a:solidFill>
            <a:srgbClr val="E8F4FB"/>
          </a:solidFill>
          <a:ln w="18000">
            <a:solidFill>
              <a:srgbClr val="15395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3" name="Badge23"/>
          <p:cNvSpPr txBox="1">
            <a:spLocks noGrp="1"/>
          </p:cNvSpPr>
          <p:nvPr/>
        </p:nvSpPr>
        <p:spPr>
          <a:xfrm>
            <a:off x="9236480" y="1150000"/>
            <a:ext cx="1400000" cy="350000"/>
          </a:xfrm>
          <a:prstGeom prst="rect">
            <a:avLst/>
          </a:prstGeom>
          <a:solidFill>
            <a:srgbClr val="15395A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Journey</a:t>
            </a:r>
          </a:p>
        </p:txBody>
      </p:sp>
      <p:sp>
        <p:nvSpPr>
          <p:cNvPr id="33" name="PillarDesc3"/>
          <p:cNvSpPr txBox="1">
            <a:spLocks noGrp="1"/>
          </p:cNvSpPr>
          <p:nvPr/>
        </p:nvSpPr>
        <p:spPr>
          <a:xfrm>
            <a:off x="8741480" y="1650000"/>
            <a:ext cx="2390000" cy="1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395A"/>
                </a:solidFill>
              </a:rPr>
              <a:t>All three connected in one conversation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Three queries · one session arc · intent + context +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Intent: when the query has no useful keywords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Demo — tap Intent tab, run any query</a:t>
            </a:r>
          </a:p>
        </p:txBody>
      </p:sp>
      <p:sp>
        <p:nvSpPr>
          <p:cNvPr id="10" name="LegBg"/>
          <p:cNvSpPr>
            <a:spLocks noGrp="1"/>
          </p:cNvSpPr>
          <p:nvPr/>
        </p:nvSpPr>
        <p:spPr>
          <a:xfrm>
            <a:off x="411480" y="950000"/>
            <a:ext cx="5100000" cy="4600000"/>
          </a:xfrm>
          <a:prstGeom prst="roundRect">
            <a:avLst>
              <a:gd name="adj" fmla="val 20000"/>
            </a:avLst>
          </a:prstGeom>
          <a:solidFill>
            <a:srgbClr val="FDE8E8"/>
          </a:solidFill>
          <a:ln w="18000">
            <a:solidFill>
              <a:srgbClr val="E24B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1" name="LegHdr"/>
          <p:cNvSpPr txBox="1">
            <a:spLocks noGrp="1"/>
          </p:cNvSpPr>
          <p:nvPr/>
        </p:nvSpPr>
        <p:spPr>
          <a:xfrm>
            <a:off x="511480" y="1100000"/>
            <a:ext cx="490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A32D2D"/>
                </a:solidFill>
              </a:rPr>
              <a:t>Legacy search (BM25)</a:t>
            </a:r>
          </a:p>
        </p:txBody>
      </p:sp>
      <p:sp>
        <p:nvSpPr>
          <p:cNvPr id="12" name="LegBody"/>
          <p:cNvSpPr txBox="1">
            <a:spLocks noGrp="1"/>
          </p:cNvSpPr>
          <p:nvPr/>
        </p:nvSpPr>
        <p:spPr>
          <a:xfrm>
            <a:off x="511480" y="1600000"/>
            <a:ext cx="4900000" cy="3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A32D2D"/>
                </a:solidFill>
              </a:rPr>
              <a:t xml:space="preserve">Query: </a:t>
            </a:r>
            <a:r>
              <a:rPr lang="en-US" sz="1500" dirty="0">
                <a:solidFill>
                  <a:srgbClr val="373839"/>
                </a:solidFill>
              </a:rPr>
              <a:t>something melancholy but hopeful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A32D2D"/>
                </a:solidFill>
              </a:rPr>
              <a:t xml:space="preserve">BM25 tokenises: </a:t>
            </a:r>
            <a:r>
              <a:rPr lang="en-US" sz="1500" dirty="0">
                <a:solidFill>
                  <a:srgbClr val="373839"/>
                </a:solidFill>
              </a:rPr>
              <a:t>"melancholy", "hopeful"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A32D2D"/>
                </a:solidFill>
              </a:rPr>
              <a:t xml:space="preserve">Searches: </a:t>
            </a:r>
            <a:r>
              <a:rPr lang="en-US" sz="1500" dirty="0">
                <a:solidFill>
                  <a:srgbClr val="373839"/>
                </a:solidFill>
              </a:rPr>
              <a:t>title / description / tags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A32D2D"/>
                </a:solidFill>
              </a:rPr>
              <a:t xml:space="preserve">Result: </a:t>
            </a:r>
            <a:r>
              <a:rPr lang="en-US" sz="1500" dirty="0">
                <a:solidFill>
                  <a:srgbClr val="373839"/>
                </a:solidFill>
              </a:rPr>
              <a:t>0 keyword matches —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unrelated EXIF-tagged photos</a:t>
            </a:r>
          </a:p>
        </p:txBody>
      </p:sp>
      <p:sp>
        <p:nvSpPr>
          <p:cNvPr id="13" name="DiscBg"/>
          <p:cNvSpPr>
            <a:spLocks noGrp="1"/>
          </p:cNvSpPr>
          <p:nvPr/>
        </p:nvSpPr>
        <p:spPr>
          <a:xfrm>
            <a:off x="6680520" y="950000"/>
            <a:ext cx="5100000" cy="460000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 w="18000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4" name="DiscHdr"/>
          <p:cNvSpPr txBox="1">
            <a:spLocks noGrp="1"/>
          </p:cNvSpPr>
          <p:nvPr/>
        </p:nvSpPr>
        <p:spPr>
          <a:xfrm>
            <a:off x="6780520" y="1100000"/>
            <a:ext cx="490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F6E56"/>
                </a:solidFill>
              </a:rPr>
              <a:t>Generative Discovery (k-NN)</a:t>
            </a:r>
          </a:p>
        </p:txBody>
      </p:sp>
      <p:sp>
        <p:nvSpPr>
          <p:cNvPr id="15" name="DiscBody"/>
          <p:cNvSpPr txBox="1">
            <a:spLocks noGrp="1"/>
          </p:cNvSpPr>
          <p:nvPr/>
        </p:nvSpPr>
        <p:spPr>
          <a:xfrm>
            <a:off x="6780520" y="1600000"/>
            <a:ext cx="4900000" cy="3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0F6E56"/>
                </a:solidFill>
              </a:rPr>
              <a:t xml:space="preserve">Query: </a:t>
            </a:r>
            <a:r>
              <a:rPr lang="en-US" sz="1500" dirty="0">
                <a:solidFill>
                  <a:srgbClr val="373839"/>
                </a:solidFill>
              </a:rPr>
              <a:t>something melancholy but hopeful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0F6E56"/>
                </a:solidFill>
              </a:rPr>
              <a:t xml:space="preserve">Embed: </a:t>
            </a:r>
            <a:r>
              <a:rPr lang="en-US" sz="1500" dirty="0">
                <a:solidFill>
                  <a:srgbClr val="373839"/>
                </a:solidFill>
              </a:rPr>
              <a:t>text-embedding-3-small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→ 1536-dim intent vector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0F6E56"/>
                </a:solidFill>
              </a:rPr>
              <a:t xml:space="preserve">OpenSearch: </a:t>
            </a:r>
            <a:r>
              <a:rPr lang="en-US" sz="1500" dirty="0">
                <a:solidFill>
                  <a:srgbClr val="373839"/>
                </a:solidFill>
              </a:rPr>
              <a:t>knn_vector cosine similarity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0F6E56"/>
                </a:solidFill>
              </a:rPr>
              <a:t xml:space="preserve">Result: </a:t>
            </a:r>
            <a:r>
              <a:rPr lang="en-US" sz="1500" dirty="0">
                <a:solidFill>
                  <a:srgbClr val="373839"/>
                </a:solidFill>
              </a:rPr>
              <a:t>emotionally resonant images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no keyword match needed</a:t>
            </a:r>
          </a:p>
        </p:txBody>
      </p:sp>
      <p:sp>
        <p:nvSpPr>
          <p:cNvPr id="16" name="Callout"/>
          <p:cNvSpPr txBox="1">
            <a:spLocks noGrp="1"/>
          </p:cNvSpPr>
          <p:nvPr/>
        </p:nvSpPr>
        <p:spPr>
          <a:xfrm>
            <a:off x="411480" y="5750000"/>
            <a:ext cx="1136904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5395A"/>
                </a:solidFill>
              </a:rPr>
              <a:t>The query had no useful keywords. The vector had everything.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Intent: how semantic retrieval works under the hood</a:t>
            </a:r>
          </a:p>
        </p:txBody>
      </p:sp>
      <p:sp>
        <p:nvSpPr>
          <p:cNvPr id="10" name="Step0"/>
          <p:cNvSpPr>
            <a:spLocks noGrp="1"/>
          </p:cNvSpPr>
          <p:nvPr/>
        </p:nvSpPr>
        <p:spPr>
          <a:xfrm>
            <a:off x="411480" y="1150000"/>
            <a:ext cx="2400000" cy="900000"/>
          </a:xfrm>
          <a:prstGeom prst="roundRect">
            <a:avLst>
              <a:gd name="adj" fmla="val 30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tepTxt0"/>
          <p:cNvSpPr txBox="1">
            <a:spLocks noGrp="1"/>
          </p:cNvSpPr>
          <p:nvPr/>
        </p:nvSpPr>
        <p:spPr>
          <a:xfrm>
            <a:off x="491480" y="1300000"/>
            <a:ext cx="22400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3070B5"/>
                </a:solidFill>
              </a:rPr>
              <a:t>User query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text input</a:t>
            </a:r>
          </a:p>
        </p:txBody>
      </p:sp>
      <p:sp>
        <p:nvSpPr>
          <p:cNvPr id="30" name="Arrow0"/>
          <p:cNvSpPr txBox="1">
            <a:spLocks noGrp="1"/>
          </p:cNvSpPr>
          <p:nvPr/>
        </p:nvSpPr>
        <p:spPr>
          <a:xfrm>
            <a:off x="2841480" y="1500000"/>
            <a:ext cx="290000" cy="2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3070B5"/>
                </a:solidFill>
              </a:rPr>
              <a:t>→</a:t>
            </a:r>
          </a:p>
        </p:txBody>
      </p:sp>
      <p:sp>
        <p:nvSpPr>
          <p:cNvPr id="11" name="Step1"/>
          <p:cNvSpPr>
            <a:spLocks noGrp="1"/>
          </p:cNvSpPr>
          <p:nvPr/>
        </p:nvSpPr>
        <p:spPr>
          <a:xfrm>
            <a:off x="3161480" y="1150000"/>
            <a:ext cx="2400000" cy="900000"/>
          </a:xfrm>
          <a:prstGeom prst="roundRect">
            <a:avLst>
              <a:gd name="adj" fmla="val 30000"/>
            </a:avLst>
          </a:prstGeom>
          <a:solidFill>
            <a:srgbClr val="E8F4FB"/>
          </a:solidFill>
          <a:ln w="18000">
            <a:solidFill>
              <a:srgbClr val="15395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StepTxt1"/>
          <p:cNvSpPr txBox="1">
            <a:spLocks noGrp="1"/>
          </p:cNvSpPr>
          <p:nvPr/>
        </p:nvSpPr>
        <p:spPr>
          <a:xfrm>
            <a:off x="3241480" y="1300000"/>
            <a:ext cx="22400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5395A"/>
                </a:solidFill>
              </a:rPr>
              <a:t>text-embedding-3-small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OpenAI API, 1536d</a:t>
            </a:r>
          </a:p>
        </p:txBody>
      </p:sp>
      <p:sp>
        <p:nvSpPr>
          <p:cNvPr id="31" name="Arrow1"/>
          <p:cNvSpPr txBox="1">
            <a:spLocks noGrp="1"/>
          </p:cNvSpPr>
          <p:nvPr/>
        </p:nvSpPr>
        <p:spPr>
          <a:xfrm>
            <a:off x="5591480" y="1500000"/>
            <a:ext cx="290000" cy="2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3070B5"/>
                </a:solidFill>
              </a:rPr>
              <a:t>→</a:t>
            </a:r>
          </a:p>
        </p:txBody>
      </p:sp>
      <p:sp>
        <p:nvSpPr>
          <p:cNvPr id="12" name="Step2"/>
          <p:cNvSpPr>
            <a:spLocks noGrp="1"/>
          </p:cNvSpPr>
          <p:nvPr/>
        </p:nvSpPr>
        <p:spPr>
          <a:xfrm>
            <a:off x="5911480" y="1150000"/>
            <a:ext cx="2400000" cy="900000"/>
          </a:xfrm>
          <a:prstGeom prst="roundRect">
            <a:avLst>
              <a:gd name="adj" fmla="val 30000"/>
            </a:avLst>
          </a:prstGeom>
          <a:solidFill>
            <a:srgbClr val="E8F4FB"/>
          </a:solidFill>
          <a:ln w="18000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StepTxt2"/>
          <p:cNvSpPr txBox="1">
            <a:spLocks noGrp="1"/>
          </p:cNvSpPr>
          <p:nvPr/>
        </p:nvSpPr>
        <p:spPr>
          <a:xfrm>
            <a:off x="5991480" y="1300000"/>
            <a:ext cx="22400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3EB54A"/>
                </a:solidFill>
              </a:rPr>
              <a:t>OpenSearch k-NN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knn_vector field
cosine similarity</a:t>
            </a:r>
          </a:p>
        </p:txBody>
      </p:sp>
      <p:sp>
        <p:nvSpPr>
          <p:cNvPr id="32" name="Arrow2"/>
          <p:cNvSpPr txBox="1">
            <a:spLocks noGrp="1"/>
          </p:cNvSpPr>
          <p:nvPr/>
        </p:nvSpPr>
        <p:spPr>
          <a:xfrm>
            <a:off x="8341480" y="1500000"/>
            <a:ext cx="290000" cy="2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3070B5"/>
                </a:solidFill>
              </a:rPr>
              <a:t>→</a:t>
            </a:r>
          </a:p>
        </p:txBody>
      </p:sp>
      <p:sp>
        <p:nvSpPr>
          <p:cNvPr id="13" name="Step3"/>
          <p:cNvSpPr>
            <a:spLocks noGrp="1"/>
          </p:cNvSpPr>
          <p:nvPr/>
        </p:nvSpPr>
        <p:spPr>
          <a:xfrm>
            <a:off x="8661480" y="1150000"/>
            <a:ext cx="2400000" cy="900000"/>
          </a:xfrm>
          <a:prstGeom prst="roundRect">
            <a:avLst>
              <a:gd name="adj" fmla="val 30000"/>
            </a:avLst>
          </a:prstGeom>
          <a:solidFill>
            <a:srgbClr val="E8F4FB"/>
          </a:solidFill>
          <a:ln w="18000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3" name="StepTxt3"/>
          <p:cNvSpPr txBox="1">
            <a:spLocks noGrp="1"/>
          </p:cNvSpPr>
          <p:nvPr/>
        </p:nvSpPr>
        <p:spPr>
          <a:xfrm>
            <a:off x="8741480" y="1300000"/>
            <a:ext cx="22400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FBAE40"/>
                </a:solidFill>
              </a:rPr>
              <a:t>Ranked results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cosine sim score
not TF-IDF</a:t>
            </a:r>
          </a:p>
        </p:txBody>
      </p:sp>
      <p:sp>
        <p:nvSpPr>
          <p:cNvPr id="40" name="LegQueryHdr"/>
          <p:cNvSpPr txBox="1">
            <a:spLocks noGrp="1"/>
          </p:cNvSpPr>
          <p:nvPr/>
        </p:nvSpPr>
        <p:spPr>
          <a:xfrm>
            <a:off x="411480" y="2300000"/>
            <a:ext cx="510000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A32D2D"/>
                </a:solidFill>
              </a:rPr>
              <a:t>Legacy OpenSearch query</a:t>
            </a:r>
          </a:p>
        </p:txBody>
      </p:sp>
      <p:sp>
        <p:nvSpPr>
          <p:cNvPr id="41" name="LegCodeBg"/>
          <p:cNvSpPr>
            <a:spLocks noGrp="1"/>
          </p:cNvSpPr>
          <p:nvPr/>
        </p:nvSpPr>
        <p:spPr>
          <a:xfrm>
            <a:off x="411480" y="2700000"/>
            <a:ext cx="5100000" cy="2200000"/>
          </a:xfrm>
          <a:prstGeom prst="roundRect">
            <a:avLst>
              <a:gd name="adj" fmla="val 15000"/>
            </a:avLst>
          </a:prstGeom>
          <a:solidFill>
            <a:srgbClr val="1A3347"/>
          </a:solidFill>
          <a:ln w="9525">
            <a:solidFill>
              <a:srgbClr val="2A507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2" name="LegCode"/>
          <p:cNvSpPr txBox="1">
            <a:spLocks noGrp="1"/>
          </p:cNvSpPr>
          <p:nvPr/>
        </p:nvSpPr>
        <p:spPr>
          <a:xfrm>
            <a:off x="531480" y="2800000"/>
            <a:ext cx="4900000" cy="20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>{"query": 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"multi_match": 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  "query": "melancholy hopeful",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  "fields": ["title^2","description","tags"],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  "type": "best_fields"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}},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"size": 6}</a:t>
            </a:r>
          </a:p>
        </p:txBody>
      </p:sp>
      <p:sp>
        <p:nvSpPr>
          <p:cNvPr id="43" name="DiscQueryHdr"/>
          <p:cNvSpPr txBox="1">
            <a:spLocks noGrp="1"/>
          </p:cNvSpPr>
          <p:nvPr/>
        </p:nvSpPr>
        <p:spPr>
          <a:xfrm>
            <a:off x="6680520" y="2300000"/>
            <a:ext cx="510000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F6E56"/>
                </a:solidFill>
              </a:rPr>
              <a:t>Discovery OpenSearch query (k-NN)</a:t>
            </a:r>
          </a:p>
        </p:txBody>
      </p:sp>
      <p:sp>
        <p:nvSpPr>
          <p:cNvPr id="44" name="DiscCodeBg"/>
          <p:cNvSpPr>
            <a:spLocks noGrp="1"/>
          </p:cNvSpPr>
          <p:nvPr/>
        </p:nvSpPr>
        <p:spPr>
          <a:xfrm>
            <a:off x="6680520" y="2700000"/>
            <a:ext cx="5100000" cy="2200000"/>
          </a:xfrm>
          <a:prstGeom prst="roundRect">
            <a:avLst>
              <a:gd name="adj" fmla="val 15000"/>
            </a:avLst>
          </a:prstGeom>
          <a:solidFill>
            <a:srgbClr val="1A3347"/>
          </a:solidFill>
          <a:ln w="9525">
            <a:solidFill>
              <a:srgbClr val="1D6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5" name="DiscCode"/>
          <p:cNvSpPr txBox="1">
            <a:spLocks noGrp="1"/>
          </p:cNvSpPr>
          <p:nvPr/>
        </p:nvSpPr>
        <p:spPr>
          <a:xfrm>
            <a:off x="6800520" y="2800000"/>
            <a:ext cx="4900000" cy="20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>{"size": 6,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"query": 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 "knn": 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   "dense_vector": 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     "vector": [0.021, -0.043, ...],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     "k": 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   }}}}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>// 1536-dim pre-computed embedding</a:t>
            </a:r>
          </a:p>
        </p:txBody>
      </p:sp>
      <p:sp>
        <p:nvSpPr>
          <p:cNvPr id="46" name="Note"/>
          <p:cNvSpPr txBox="1">
            <a:spLocks noGrp="1"/>
          </p:cNvSpPr>
          <p:nvPr/>
        </p:nvSpPr>
        <p:spPr>
          <a:xfrm>
            <a:off x="411480" y="5100000"/>
            <a:ext cx="1136904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5395A"/>
                </a:solidFill>
              </a:rPr>
              <a:t>BM25 matches tokens.  k-NN matches meaning.  Same index, different contract.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Context: the system that remembers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Demo — tap Context tab, watch how prior queries shift results</a:t>
            </a:r>
          </a:p>
        </p:txBody>
      </p:sp>
      <p:sp>
        <p:nvSpPr>
          <p:cNvPr id="10" name="SQ0"/>
          <p:cNvSpPr>
            <a:spLocks noGrp="1"/>
          </p:cNvSpPr>
          <p:nvPr/>
        </p:nvSpPr>
        <p:spPr>
          <a:xfrm>
            <a:off x="411480" y="1150000"/>
            <a:ext cx="3000000" cy="8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7FBBC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Qlbl0"/>
          <p:cNvSpPr txBox="1">
            <a:spLocks noGrp="1"/>
          </p:cNvSpPr>
          <p:nvPr/>
        </p:nvSpPr>
        <p:spPr>
          <a:xfrm>
            <a:off x="511480" y="1250000"/>
            <a:ext cx="2800000" cy="28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7FBBC0"/>
                </a:solidFill>
              </a:rPr>
              <a:t>Query 1</a:t>
            </a:r>
          </a:p>
        </p:txBody>
      </p:sp>
      <p:sp>
        <p:nvSpPr>
          <p:cNvPr id="21" name="SQtxt0"/>
          <p:cNvSpPr txBox="1">
            <a:spLocks noGrp="1"/>
          </p:cNvSpPr>
          <p:nvPr/>
        </p:nvSpPr>
        <p:spPr>
          <a:xfrm>
            <a:off x="511480" y="153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"clean workspace"</a:t>
            </a:r>
          </a:p>
        </p:txBody>
      </p:sp>
      <p:sp>
        <p:nvSpPr>
          <p:cNvPr id="30" name="SArr0"/>
          <p:cNvSpPr txBox="1">
            <a:spLocks noGrp="1"/>
          </p:cNvSpPr>
          <p:nvPr/>
        </p:nvSpPr>
        <p:spPr>
          <a:xfrm>
            <a:off x="3441480" y="1450000"/>
            <a:ext cx="290000" cy="2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70B5"/>
                </a:solidFill>
              </a:rPr>
              <a:t>→</a:t>
            </a:r>
          </a:p>
        </p:txBody>
      </p:sp>
      <p:sp>
        <p:nvSpPr>
          <p:cNvPr id="11" name="SQ1"/>
          <p:cNvSpPr>
            <a:spLocks noGrp="1"/>
          </p:cNvSpPr>
          <p:nvPr/>
        </p:nvSpPr>
        <p:spPr>
          <a:xfrm>
            <a:off x="3761480" y="1150000"/>
            <a:ext cx="3000000" cy="8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7FBBC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SQlbl1"/>
          <p:cNvSpPr txBox="1">
            <a:spLocks noGrp="1"/>
          </p:cNvSpPr>
          <p:nvPr/>
        </p:nvSpPr>
        <p:spPr>
          <a:xfrm>
            <a:off x="3861480" y="1250000"/>
            <a:ext cx="2800000" cy="28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7FBBC0"/>
                </a:solidFill>
              </a:rPr>
              <a:t>Query 2</a:t>
            </a:r>
          </a:p>
        </p:txBody>
      </p:sp>
      <p:sp>
        <p:nvSpPr>
          <p:cNvPr id="31" name="SQtxt1"/>
          <p:cNvSpPr txBox="1">
            <a:spLocks noGrp="1"/>
          </p:cNvSpPr>
          <p:nvPr/>
        </p:nvSpPr>
        <p:spPr>
          <a:xfrm>
            <a:off x="3861480" y="153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"late night focus"</a:t>
            </a:r>
          </a:p>
        </p:txBody>
      </p:sp>
      <p:sp>
        <p:nvSpPr>
          <p:cNvPr id="31" name="SArr1"/>
          <p:cNvSpPr txBox="1">
            <a:spLocks noGrp="1"/>
          </p:cNvSpPr>
          <p:nvPr/>
        </p:nvSpPr>
        <p:spPr>
          <a:xfrm>
            <a:off x="6791480" y="1450000"/>
            <a:ext cx="290000" cy="2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70B5"/>
                </a:solidFill>
              </a:rPr>
              <a:t>→</a:t>
            </a:r>
          </a:p>
        </p:txBody>
      </p:sp>
      <p:sp>
        <p:nvSpPr>
          <p:cNvPr id="12" name="SQ2"/>
          <p:cNvSpPr>
            <a:spLocks noGrp="1"/>
          </p:cNvSpPr>
          <p:nvPr/>
        </p:nvSpPr>
        <p:spPr>
          <a:xfrm>
            <a:off x="7111480" y="1150000"/>
            <a:ext cx="3000000" cy="8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SQlbl2"/>
          <p:cNvSpPr txBox="1">
            <a:spLocks noGrp="1"/>
          </p:cNvSpPr>
          <p:nvPr/>
        </p:nvSpPr>
        <p:spPr>
          <a:xfrm>
            <a:off x="7211480" y="1250000"/>
            <a:ext cx="2800000" cy="28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070B5"/>
                </a:solidFill>
              </a:rPr>
              <a:t>Query 3</a:t>
            </a:r>
          </a:p>
        </p:txBody>
      </p:sp>
      <p:sp>
        <p:nvSpPr>
          <p:cNvPr id="41" name="SQtxt2"/>
          <p:cNvSpPr txBox="1">
            <a:spLocks noGrp="1"/>
          </p:cNvSpPr>
          <p:nvPr/>
        </p:nvSpPr>
        <p:spPr>
          <a:xfrm>
            <a:off x="7211480" y="153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"developer in flow state"</a:t>
            </a:r>
          </a:p>
        </p:txBody>
      </p:sp>
      <p:sp>
        <p:nvSpPr>
          <p:cNvPr id="40" name="LegBg2"/>
          <p:cNvSpPr>
            <a:spLocks noGrp="1"/>
          </p:cNvSpPr>
          <p:nvPr/>
        </p:nvSpPr>
        <p:spPr>
          <a:xfrm>
            <a:off x="411480" y="2200000"/>
            <a:ext cx="5100000" cy="3200000"/>
          </a:xfrm>
          <a:prstGeom prst="roundRect">
            <a:avLst>
              <a:gd name="adj" fmla="val 20000"/>
            </a:avLst>
          </a:prstGeom>
          <a:solidFill>
            <a:srgbClr val="FDE8E8"/>
          </a:solidFill>
          <a:ln w="18000">
            <a:solidFill>
              <a:srgbClr val="E24B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1" name="LHdr2"/>
          <p:cNvSpPr txBox="1">
            <a:spLocks noGrp="1"/>
          </p:cNvSpPr>
          <p:nvPr/>
        </p:nvSpPr>
        <p:spPr>
          <a:xfrm>
            <a:off x="511480" y="2350000"/>
            <a:ext cx="490000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A32D2D"/>
                </a:solidFill>
              </a:rPr>
              <a:t>Legacy: each query is independent</a:t>
            </a:r>
          </a:p>
        </p:txBody>
      </p:sp>
      <p:sp>
        <p:nvSpPr>
          <p:cNvPr id="42" name="LBody2"/>
          <p:cNvSpPr txBox="1">
            <a:spLocks noGrp="1"/>
          </p:cNvSpPr>
          <p:nvPr/>
        </p:nvSpPr>
        <p:spPr>
          <a:xfrm>
            <a:off x="511480" y="2750000"/>
            <a:ext cx="4900000" cy="24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373839"/>
                </a:solidFill>
              </a:rPr>
              <a:t>Query 3 "developer in flow state"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→ BM25 searches title/description/tags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→ Returns: generic coding stock photos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A32D2D"/>
                </a:solidFill>
              </a:rPr>
              <a:t>→ No memory of prior two queries</a:t>
            </a:r>
          </a:p>
        </p:txBody>
      </p:sp>
      <p:sp>
        <p:nvSpPr>
          <p:cNvPr id="43" name="DiscBg2"/>
          <p:cNvSpPr>
            <a:spLocks noGrp="1"/>
          </p:cNvSpPr>
          <p:nvPr/>
        </p:nvSpPr>
        <p:spPr>
          <a:xfrm>
            <a:off x="6680520" y="2200000"/>
            <a:ext cx="5100000" cy="320000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 w="18000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4" name="DHdr2"/>
          <p:cNvSpPr txBox="1">
            <a:spLocks noGrp="1"/>
          </p:cNvSpPr>
          <p:nvPr/>
        </p:nvSpPr>
        <p:spPr>
          <a:xfrm>
            <a:off x="6780520" y="2350000"/>
            <a:ext cx="490000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6E56"/>
                </a:solidFill>
              </a:rPr>
              <a:t>Discovery: session-conditioned retrieval</a:t>
            </a:r>
          </a:p>
        </p:txBody>
      </p:sp>
      <p:sp>
        <p:nvSpPr>
          <p:cNvPr id="45" name="DBody2"/>
          <p:cNvSpPr txBox="1">
            <a:spLocks noGrp="1"/>
          </p:cNvSpPr>
          <p:nvPr/>
        </p:nvSpPr>
        <p:spPr>
          <a:xfrm>
            <a:off x="6780520" y="2750000"/>
            <a:ext cx="4900000" cy="24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373839"/>
                </a:solidFill>
              </a:rPr>
              <a:t>Session vector carries prior context: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→ solitude + minimal + late night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→ k-NN conditioned on session vector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F6E56"/>
                </a:solidFill>
              </a:rPr>
              <a:t>→ Returns: dark room, monitor glow, deep focus</a:t>
            </a:r>
          </a:p>
        </p:txBody>
      </p:sp>
      <p:sp>
        <p:nvSpPr>
          <p:cNvPr id="46" name="CtxCallout"/>
          <p:cNvSpPr txBox="1">
            <a:spLocks noGrp="1"/>
          </p:cNvSpPr>
          <p:nvPr/>
        </p:nvSpPr>
        <p:spPr>
          <a:xfrm>
            <a:off x="411480" y="5600000"/>
            <a:ext cx="1136904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i="1" dirty="0">
                <a:solidFill>
                  <a:srgbClr val="15395A"/>
                </a:solidFill>
              </a:rPr>
              <a:t>Context is not convenience. It is correctness. Without it, “human scale” returns architecture floor plans.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Context: recency-weighted session vector — zero LLM calls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Context is pure vector math. No language model is involved.</a:t>
            </a:r>
          </a:p>
        </p:txBody>
      </p:sp>
      <p:sp>
        <p:nvSpPr>
          <p:cNvPr id="10" name="FormBg"/>
          <p:cNvSpPr>
            <a:spLocks noGrp="1"/>
          </p:cNvSpPr>
          <p:nvPr/>
        </p:nvSpPr>
        <p:spPr>
          <a:xfrm>
            <a:off x="411480" y="1050000"/>
            <a:ext cx="11369040" cy="1000000"/>
          </a:xfrm>
          <a:prstGeom prst="roundRect">
            <a:avLst>
              <a:gd name="adj" fmla="val 15000"/>
            </a:avLst>
          </a:prstGeom>
          <a:solidFill>
            <a:srgbClr val="1A3347"/>
          </a:solidFill>
          <a:ln w="9525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1" name="Form"/>
          <p:cNvSpPr txBox="1">
            <a:spLocks noGrp="1"/>
          </p:cNvSpPr>
          <p:nvPr/>
        </p:nvSpPr>
        <p:spPr>
          <a:xfrm>
            <a:off x="611480" y="1150000"/>
            <a:ext cx="10969040" cy="8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8E6F4"/>
                </a:solidFill>
                <a:latin typeface="Consolas"/>
              </a:rPr>
              <a:t>session_vector  =  normalize( Σ  0.7^(n−i) × embedding_i )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7FBBC0"/>
                </a:solidFill>
                <a:latin typeface="Consolas"/>
              </a:rPr>
              <a:t>where  weight decays by 0.7 per step  ·  most recent query = highest weight</a:t>
            </a:r>
          </a:p>
        </p:txBody>
      </p:sp>
      <p:sp>
        <p:nvSpPr>
          <p:cNvPr id="20" name="AccStep0"/>
          <p:cNvSpPr>
            <a:spLocks noGrp="1"/>
          </p:cNvSpPr>
          <p:nvPr/>
        </p:nvSpPr>
        <p:spPr>
          <a:xfrm>
            <a:off x="596000" y="2250000"/>
            <a:ext cx="2600000" cy="13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0" name="AccLbl0"/>
          <p:cNvSpPr txBox="1">
            <a:spLocks noGrp="1"/>
          </p:cNvSpPr>
          <p:nvPr/>
        </p:nvSpPr>
        <p:spPr>
          <a:xfrm>
            <a:off x="676000" y="2350000"/>
            <a:ext cx="244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3070B5"/>
                </a:solidFill>
              </a:rPr>
              <a:t>v₁</a:t>
            </a:r>
          </a:p>
        </p:txBody>
      </p:sp>
      <p:sp>
        <p:nvSpPr>
          <p:cNvPr id="31" name="AccBody0"/>
          <p:cNvSpPr txBox="1">
            <a:spLocks noGrp="1"/>
          </p:cNvSpPr>
          <p:nvPr/>
        </p:nvSpPr>
        <p:spPr>
          <a:xfrm>
            <a:off x="676000" y="2770000"/>
            <a:ext cx="244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clean workspace
→ embed → v₁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070B5"/>
                </a:solidFill>
              </a:rPr>
              <a:t>weight: 0.49</a:t>
            </a:r>
          </a:p>
        </p:txBody>
      </p:sp>
      <p:sp>
        <p:nvSpPr>
          <p:cNvPr id="40" name="AccArrow0"/>
          <p:cNvSpPr txBox="1">
            <a:spLocks noGrp="1"/>
          </p:cNvSpPr>
          <p:nvPr/>
        </p:nvSpPr>
        <p:spPr>
          <a:xfrm>
            <a:off x="3216000" y="2800000"/>
            <a:ext cx="160000" cy="2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070B5"/>
                </a:solidFill>
              </a:rPr>
              <a:t>→</a:t>
            </a:r>
          </a:p>
        </p:txBody>
      </p:sp>
      <p:sp>
        <p:nvSpPr>
          <p:cNvPr id="21" name="AccStep1"/>
          <p:cNvSpPr>
            <a:spLocks noGrp="1"/>
          </p:cNvSpPr>
          <p:nvPr/>
        </p:nvSpPr>
        <p:spPr>
          <a:xfrm>
            <a:off x="3396000" y="2250000"/>
            <a:ext cx="2600000" cy="13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1" name="AccLbl1"/>
          <p:cNvSpPr txBox="1">
            <a:spLocks noGrp="1"/>
          </p:cNvSpPr>
          <p:nvPr/>
        </p:nvSpPr>
        <p:spPr>
          <a:xfrm>
            <a:off x="3476000" y="2350000"/>
            <a:ext cx="244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3070B5"/>
                </a:solidFill>
              </a:rPr>
              <a:t>v₂</a:t>
            </a:r>
          </a:p>
        </p:txBody>
      </p:sp>
      <p:sp>
        <p:nvSpPr>
          <p:cNvPr id="41" name="AccBody1"/>
          <p:cNvSpPr txBox="1">
            <a:spLocks noGrp="1"/>
          </p:cNvSpPr>
          <p:nvPr/>
        </p:nvSpPr>
        <p:spPr>
          <a:xfrm>
            <a:off x="3476000" y="2770000"/>
            <a:ext cx="244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late night focus
→ embed → v₂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070B5"/>
                </a:solidFill>
              </a:rPr>
              <a:t>weight: 0.70</a:t>
            </a:r>
          </a:p>
        </p:txBody>
      </p:sp>
      <p:sp>
        <p:nvSpPr>
          <p:cNvPr id="41" name="AccArrow1"/>
          <p:cNvSpPr txBox="1">
            <a:spLocks noGrp="1"/>
          </p:cNvSpPr>
          <p:nvPr/>
        </p:nvSpPr>
        <p:spPr>
          <a:xfrm>
            <a:off x="6016000" y="2800000"/>
            <a:ext cx="160000" cy="2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070B5"/>
                </a:solidFill>
              </a:rPr>
              <a:t>→</a:t>
            </a:r>
          </a:p>
        </p:txBody>
      </p:sp>
      <p:sp>
        <p:nvSpPr>
          <p:cNvPr id="22" name="AccStep2"/>
          <p:cNvSpPr>
            <a:spLocks noGrp="1"/>
          </p:cNvSpPr>
          <p:nvPr/>
        </p:nvSpPr>
        <p:spPr>
          <a:xfrm>
            <a:off x="6196000" y="2250000"/>
            <a:ext cx="2600000" cy="13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2" name="AccLbl2"/>
          <p:cNvSpPr txBox="1">
            <a:spLocks noGrp="1"/>
          </p:cNvSpPr>
          <p:nvPr/>
        </p:nvSpPr>
        <p:spPr>
          <a:xfrm>
            <a:off x="6276000" y="2350000"/>
            <a:ext cx="244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3070B5"/>
                </a:solidFill>
              </a:rPr>
              <a:t>v₃</a:t>
            </a:r>
          </a:p>
        </p:txBody>
      </p:sp>
      <p:sp>
        <p:nvSpPr>
          <p:cNvPr id="51" name="AccBody2"/>
          <p:cNvSpPr txBox="1">
            <a:spLocks noGrp="1"/>
          </p:cNvSpPr>
          <p:nvPr/>
        </p:nvSpPr>
        <p:spPr>
          <a:xfrm>
            <a:off x="6276000" y="2770000"/>
            <a:ext cx="244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developer in flow
→ embed → v₃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070B5"/>
                </a:solidFill>
              </a:rPr>
              <a:t>weight: 1.00</a:t>
            </a:r>
          </a:p>
        </p:txBody>
      </p:sp>
      <p:sp>
        <p:nvSpPr>
          <p:cNvPr id="42" name="AccArrow2"/>
          <p:cNvSpPr txBox="1">
            <a:spLocks noGrp="1"/>
          </p:cNvSpPr>
          <p:nvPr/>
        </p:nvSpPr>
        <p:spPr>
          <a:xfrm>
            <a:off x="8816000" y="2800000"/>
            <a:ext cx="160000" cy="2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070B5"/>
                </a:solidFill>
              </a:rPr>
              <a:t>→</a:t>
            </a:r>
          </a:p>
        </p:txBody>
      </p:sp>
      <p:sp>
        <p:nvSpPr>
          <p:cNvPr id="23" name="AccStep3"/>
          <p:cNvSpPr>
            <a:spLocks noGrp="1"/>
          </p:cNvSpPr>
          <p:nvPr/>
        </p:nvSpPr>
        <p:spPr>
          <a:xfrm>
            <a:off x="8996000" y="2250000"/>
            <a:ext cx="2600000" cy="13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3" name="AccLbl3"/>
          <p:cNvSpPr txBox="1">
            <a:spLocks noGrp="1"/>
          </p:cNvSpPr>
          <p:nvPr/>
        </p:nvSpPr>
        <p:spPr>
          <a:xfrm>
            <a:off x="9076000" y="2350000"/>
            <a:ext cx="244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3EB54A"/>
                </a:solidFill>
              </a:rPr>
              <a:t>v_session</a:t>
            </a:r>
          </a:p>
        </p:txBody>
      </p:sp>
      <p:sp>
        <p:nvSpPr>
          <p:cNvPr id="61" name="AccBody3"/>
          <p:cNvSpPr txBox="1">
            <a:spLocks noGrp="1"/>
          </p:cNvSpPr>
          <p:nvPr/>
        </p:nvSpPr>
        <p:spPr>
          <a:xfrm>
            <a:off x="9076000" y="2770000"/>
            <a:ext cx="244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0.49·v₁ + 0.70·v₂
+ 1.00·v₃  → normalize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EB54A"/>
                </a:solidFill>
              </a:rPr>
              <a:t>k-NN query vector</a:t>
            </a:r>
          </a:p>
        </p:txBody>
      </p:sp>
      <p:sp>
        <p:nvSpPr>
          <p:cNvPr id="50" name="PivotBg"/>
          <p:cNvSpPr>
            <a:spLocks noGrp="1"/>
          </p:cNvSpPr>
          <p:nvPr/>
        </p:nvSpPr>
        <p:spPr>
          <a:xfrm>
            <a:off x="411480" y="3750000"/>
            <a:ext cx="11369040" cy="700000"/>
          </a:xfrm>
          <a:prstGeom prst="roundRect">
            <a:avLst>
              <a:gd name="adj" fmla="val 15000"/>
            </a:avLst>
          </a:prstGeom>
          <a:solidFill>
            <a:srgbClr val="FFF3D0"/>
          </a:solidFill>
          <a:ln w="9525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1" name="PivotTxt"/>
          <p:cNvSpPr txBox="1">
            <a:spLocks noGrp="1"/>
          </p:cNvSpPr>
          <p:nvPr/>
        </p:nvSpPr>
        <p:spPr>
          <a:xfrm>
            <a:off x="611480" y="3850000"/>
            <a:ext cx="10969040" cy="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BAE40"/>
                </a:solidFill>
              </a:rPr>
              <a:t xml:space="preserve">Pivot signal: </a:t>
            </a:r>
            <a:r>
              <a:rPr lang="en-US" sz="1600" dirty="0">
                <a:solidFill>
                  <a:srgbClr val="373839"/>
                </a:solidFill>
                <a:latin typeface="Consolas"/>
              </a:rPr>
              <a:t xml:space="preserve">v_session = normalize(v_session − 0.6 × v_prior)  </a:t>
            </a:r>
            <a:r>
              <a:rPr lang="en-US" sz="1600" i="1" dirty="0">
                <a:solidFill>
                  <a:srgbClr val="373839"/>
                </a:solidFill>
              </a:rPr>
              <a:t xml:space="preserve">  ·  session actively moves away from the prior direction</a:t>
            </a:r>
          </a:p>
        </p:txBody>
      </p:sp>
      <p:sp>
        <p:nvSpPr>
          <p:cNvPr id="52" name="CtxStore"/>
          <p:cNvSpPr txBox="1">
            <a:spLocks noGrp="1"/>
          </p:cNvSpPr>
          <p:nvPr/>
        </p:nvSpPr>
        <p:spPr>
          <a:xfrm>
            <a:off x="411480" y="4600000"/>
            <a:ext cx="1136904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 xml:space="preserve">Stored in </a:t>
            </a:r>
            <a:r>
              <a:rPr lang="en-US" sz="1500" b="1" dirty="0">
                <a:solidFill>
                  <a:srgbClr val="3070B5"/>
                </a:solidFill>
                <a:latin typeface="Consolas"/>
              </a:rPr>
              <a:t>icc_sessions</a:t>
            </a:r>
            <a:r>
              <a:rPr lang="en-US" sz="1500" dirty="0">
                <a:solidFill>
                  <a:srgbClr val="373839"/>
                </a:solidFill>
              </a:rPr>
              <a:t xml:space="preserve">  OpenSearch index  ·  TTL: 4 hours  ·  vector_json field (serialised float array)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Cognition: reasoning before retrieval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Demo — tap Cognition tab, watch the agent trace stream in real time</a:t>
            </a:r>
          </a:p>
        </p:txBody>
      </p:sp>
      <p:sp>
        <p:nvSpPr>
          <p:cNvPr id="10" name="QueryBg"/>
          <p:cNvSpPr>
            <a:spLocks noGrp="1"/>
          </p:cNvSpPr>
          <p:nvPr/>
        </p:nvSpPr>
        <p:spPr>
          <a:xfrm>
            <a:off x="411480" y="1050000"/>
            <a:ext cx="11369040" cy="550000"/>
          </a:xfrm>
          <a:prstGeom prst="roundRect">
            <a:avLst>
              <a:gd name="adj" fmla="val 15000"/>
            </a:avLst>
          </a:prstGeom>
          <a:solidFill>
            <a:srgbClr val="1A3347"/>
          </a:solidFill>
          <a:ln w="18000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1" name="QueryTxt"/>
          <p:cNvSpPr txBox="1">
            <a:spLocks noGrp="1"/>
          </p:cNvSpPr>
          <p:nvPr/>
        </p:nvSpPr>
        <p:spPr>
          <a:xfrm>
            <a:off x="711480" y="1150000"/>
            <a:ext cx="1076904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FBAE40"/>
                </a:solidFill>
                <a:latin typeface="Consolas"/>
              </a:rPr>
              <a:t>Query: "something for a tech startup that feels human"</a:t>
            </a:r>
          </a:p>
        </p:txBody>
      </p:sp>
      <p:sp>
        <p:nvSpPr>
          <p:cNvPr id="20" name="TrBg0"/>
          <p:cNvSpPr>
            <a:spLocks noGrp="1"/>
          </p:cNvSpPr>
          <p:nvPr/>
        </p:nvSpPr>
        <p:spPr>
          <a:xfrm>
            <a:off x="411480" y="1800000"/>
            <a:ext cx="11369040" cy="58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0" name="Badge30"/>
          <p:cNvSpPr txBox="1">
            <a:spLocks noGrp="1"/>
          </p:cNvSpPr>
          <p:nvPr/>
        </p:nvSpPr>
        <p:spPr>
          <a:xfrm>
            <a:off x="491480" y="1960000"/>
            <a:ext cx="900000" cy="300000"/>
          </a:xfrm>
          <a:prstGeom prst="rect">
            <a:avLst/>
          </a:prstGeom>
          <a:solidFill>
            <a:srgbClr val="3070B5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40" name="TrTxt0"/>
          <p:cNvSpPr txBox="1">
            <a:spLocks noGrp="1"/>
          </p:cNvSpPr>
          <p:nvPr/>
        </p:nvSpPr>
        <p:spPr>
          <a:xfrm>
            <a:off x="1511480" y="1880000"/>
            <a:ext cx="10069040" cy="42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73839"/>
                </a:solidFill>
              </a:rPr>
              <a:t>Conflicting modifiers: [tech context] vs [human warmth]</a:t>
            </a:r>
          </a:p>
        </p:txBody>
      </p:sp>
      <p:sp>
        <p:nvSpPr>
          <p:cNvPr id="21" name="TrBg1"/>
          <p:cNvSpPr>
            <a:spLocks noGrp="1"/>
          </p:cNvSpPr>
          <p:nvPr/>
        </p:nvSpPr>
        <p:spPr>
          <a:xfrm>
            <a:off x="411480" y="2420000"/>
            <a:ext cx="11369040" cy="58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1" name="Badge31"/>
          <p:cNvSpPr txBox="1">
            <a:spLocks noGrp="1"/>
          </p:cNvSpPr>
          <p:nvPr/>
        </p:nvSpPr>
        <p:spPr>
          <a:xfrm>
            <a:off x="491480" y="2580000"/>
            <a:ext cx="900000" cy="300000"/>
          </a:xfrm>
          <a:prstGeom prst="rect">
            <a:avLst/>
          </a:prstGeom>
          <a:solidFill>
            <a:srgbClr val="3EB54A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Decompose</a:t>
            </a:r>
          </a:p>
        </p:txBody>
      </p:sp>
      <p:sp>
        <p:nvSpPr>
          <p:cNvPr id="41" name="TrTxt1"/>
          <p:cNvSpPr txBox="1">
            <a:spLocks noGrp="1"/>
          </p:cNvSpPr>
          <p:nvPr/>
        </p:nvSpPr>
        <p:spPr>
          <a:xfrm>
            <a:off x="1511480" y="2500000"/>
            <a:ext cx="10069040" cy="42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73839"/>
                </a:solidFill>
              </a:rPr>
              <a:t>Sub-query 1: candid team · Sub-query 2: human hands on product</a:t>
            </a:r>
          </a:p>
        </p:txBody>
      </p:sp>
      <p:sp>
        <p:nvSpPr>
          <p:cNvPr id="22" name="TrBg2"/>
          <p:cNvSpPr>
            <a:spLocks noGrp="1"/>
          </p:cNvSpPr>
          <p:nvPr/>
        </p:nvSpPr>
        <p:spPr>
          <a:xfrm>
            <a:off x="411480" y="3040000"/>
            <a:ext cx="11369040" cy="58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A32D2D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2" name="Badge32"/>
          <p:cNvSpPr txBox="1">
            <a:spLocks noGrp="1"/>
          </p:cNvSpPr>
          <p:nvPr/>
        </p:nvSpPr>
        <p:spPr>
          <a:xfrm>
            <a:off x="491480" y="3200000"/>
            <a:ext cx="900000" cy="3000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Exclude</a:t>
            </a:r>
          </a:p>
        </p:txBody>
      </p:sp>
      <p:sp>
        <p:nvSpPr>
          <p:cNvPr id="42" name="TrTxt2"/>
          <p:cNvSpPr txBox="1">
            <a:spLocks noGrp="1"/>
          </p:cNvSpPr>
          <p:nvPr/>
        </p:nvSpPr>
        <p:spPr>
          <a:xfrm>
            <a:off x="1511480" y="3120000"/>
            <a:ext cx="10069040" cy="42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73839"/>
                </a:solidFill>
              </a:rPr>
              <a:t>NOT: polished corporate · NOT: server racks · NOT: staged poses</a:t>
            </a:r>
          </a:p>
        </p:txBody>
      </p:sp>
      <p:sp>
        <p:nvSpPr>
          <p:cNvPr id="23" name="TrBg3"/>
          <p:cNvSpPr>
            <a:spLocks noGrp="1"/>
          </p:cNvSpPr>
          <p:nvPr/>
        </p:nvSpPr>
        <p:spPr>
          <a:xfrm>
            <a:off x="411480" y="3660000"/>
            <a:ext cx="11369040" cy="58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15395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3" name="Badge33"/>
          <p:cNvSpPr txBox="1">
            <a:spLocks noGrp="1"/>
          </p:cNvSpPr>
          <p:nvPr/>
        </p:nvSpPr>
        <p:spPr>
          <a:xfrm>
            <a:off x="491480" y="3820000"/>
            <a:ext cx="900000" cy="300000"/>
          </a:xfrm>
          <a:prstGeom prst="rect">
            <a:avLst/>
          </a:prstGeom>
          <a:solidFill>
            <a:srgbClr val="15395A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43" name="TrTxt3"/>
          <p:cNvSpPr txBox="1">
            <a:spLocks noGrp="1"/>
          </p:cNvSpPr>
          <p:nvPr/>
        </p:nvSpPr>
        <p:spPr>
          <a:xfrm>
            <a:off x="1511480" y="3740000"/>
            <a:ext cx="10069040" cy="42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73839"/>
                </a:solidFill>
              </a:rPr>
              <a:t>3 × parallel k-NN calls to OpenSearch</a:t>
            </a:r>
          </a:p>
        </p:txBody>
      </p:sp>
      <p:sp>
        <p:nvSpPr>
          <p:cNvPr id="24" name="TrBg4"/>
          <p:cNvSpPr>
            <a:spLocks noGrp="1"/>
          </p:cNvSpPr>
          <p:nvPr/>
        </p:nvSpPr>
        <p:spPr>
          <a:xfrm>
            <a:off x="411480" y="4280000"/>
            <a:ext cx="11369040" cy="58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4" name="Badge34"/>
          <p:cNvSpPr txBox="1">
            <a:spLocks noGrp="1"/>
          </p:cNvSpPr>
          <p:nvPr/>
        </p:nvSpPr>
        <p:spPr>
          <a:xfrm>
            <a:off x="491480" y="4440000"/>
            <a:ext cx="900000" cy="300000"/>
          </a:xfrm>
          <a:prstGeom prst="rect">
            <a:avLst/>
          </a:prstGeom>
          <a:solidFill>
            <a:srgbClr val="FBAE4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Merge</a:t>
            </a:r>
          </a:p>
        </p:txBody>
      </p:sp>
      <p:sp>
        <p:nvSpPr>
          <p:cNvPr id="44" name="TrTxt4"/>
          <p:cNvSpPr txBox="1">
            <a:spLocks noGrp="1"/>
          </p:cNvSpPr>
          <p:nvPr/>
        </p:nvSpPr>
        <p:spPr>
          <a:xfrm>
            <a:off x="1511480" y="4360000"/>
            <a:ext cx="10069040" cy="42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73839"/>
                </a:solidFill>
              </a:rPr>
              <a:t>Composite score → re-rank by human presence signal</a:t>
            </a:r>
          </a:p>
        </p:txBody>
      </p:sp>
      <p:sp>
        <p:nvSpPr>
          <p:cNvPr id="50" name="CognCallout"/>
          <p:cNvSpPr txBox="1">
            <a:spLocks noGrp="1"/>
          </p:cNvSpPr>
          <p:nvPr/>
        </p:nvSpPr>
        <p:spPr>
          <a:xfrm>
            <a:off x="411480" y="5050000"/>
            <a:ext cx="1136904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5395A"/>
                </a:solidFill>
              </a:rPr>
              <a:t>The LLM does not retrieve. It reasons. OpenSearch retrieves.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Cognition: LLM prompt → parallel OpenSearch retrieval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NVIDIA NIM · meta/llama-3.1-8b-instruct · fallback: OpenAI gpt-4o-mini</a:t>
            </a:r>
          </a:p>
        </p:txBody>
      </p:sp>
      <p:sp>
        <p:nvSpPr>
          <p:cNvPr id="10" name="PromptHdr"/>
          <p:cNvSpPr txBox="1">
            <a:spLocks noGrp="1"/>
          </p:cNvSpPr>
          <p:nvPr/>
        </p:nvSpPr>
        <p:spPr>
          <a:xfrm>
            <a:off x="411480" y="1050000"/>
            <a:ext cx="530000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3070B5"/>
                </a:solidFill>
              </a:rPr>
              <a:t>What gets sent to the LLM</a:t>
            </a:r>
          </a:p>
        </p:txBody>
      </p:sp>
      <p:sp>
        <p:nvSpPr>
          <p:cNvPr id="11" name="PromptBg"/>
          <p:cNvSpPr>
            <a:spLocks noGrp="1"/>
          </p:cNvSpPr>
          <p:nvPr/>
        </p:nvSpPr>
        <p:spPr>
          <a:xfrm>
            <a:off x="411480" y="1450000"/>
            <a:ext cx="5300000" cy="3800000"/>
          </a:xfrm>
          <a:prstGeom prst="roundRect">
            <a:avLst>
              <a:gd name="adj" fmla="val 15000"/>
            </a:avLst>
          </a:prstGeom>
          <a:solidFill>
            <a:srgbClr val="1A3347"/>
          </a:solidFill>
          <a:ln w="9525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PromptCode"/>
          <p:cNvSpPr txBox="1">
            <a:spLocks noGrp="1"/>
          </p:cNvSpPr>
          <p:nvPr/>
        </p:nvSpPr>
        <p:spPr>
          <a:xfrm>
            <a:off x="561480" y="1600000"/>
            <a:ext cx="5000000" cy="3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BAE40"/>
                </a:solidFill>
                <a:latin typeface="Consolas"/>
              </a:rPr>
              <a:t xml:space="preserve">System: </a:t>
            </a:r>
            <a:r>
              <a:rPr lang="en-US" sz="1200" dirty="0">
                <a:solidFill>
                  <a:srgbClr val="C8E6F4"/>
                </a:solidFill>
                <a:latin typeface="Consolas"/>
              </a:rPr>
              <a:t>You are a visual search decomposition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>engine. Analyse the query for ambiguity.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>Return JSON only: 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"sub_queries": [],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"exclusions": [],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"tone": "",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 xml:space="preserve">  "session_modifier": ""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>}</a:t>
            </a:r>
          </a:p>
          <a:p>
            <a:endParaRPr lang="en-US" dirty="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BAE40"/>
                </a:solidFill>
                <a:latin typeface="Consolas"/>
              </a:rPr>
              <a:t xml:space="preserve">User: </a:t>
            </a:r>
            <a:r>
              <a:rPr lang="en-US" sz="1200" dirty="0">
                <a:solidFill>
                  <a:srgbClr val="C8E6F4"/>
                </a:solidFill>
                <a:latin typeface="Consolas"/>
              </a:rPr>
              <a:t>"something for a tech startup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8E6F4"/>
                </a:solidFill>
                <a:latin typeface="Consolas"/>
              </a:rPr>
              <a:t>that feels human"</a:t>
            </a:r>
          </a:p>
          <a:p>
            <a:endParaRPr lang="en-US" dirty="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BAE40"/>
                </a:solidFill>
                <a:latin typeface="Consolas"/>
              </a:rPr>
              <a:t xml:space="preserve">session_ctx: </a:t>
            </a:r>
            <a:r>
              <a:rPr lang="en-US" sz="1200" dirty="0">
                <a:solidFill>
                  <a:srgbClr val="C8E6F4"/>
                </a:solidFill>
                <a:latin typeface="Consolas"/>
              </a:rPr>
              <a:t>"minimalism, workspace, focus"</a:t>
            </a:r>
          </a:p>
        </p:txBody>
      </p:sp>
      <p:sp>
        <p:nvSpPr>
          <p:cNvPr id="13" name="RetHdr"/>
          <p:cNvSpPr txBox="1">
            <a:spLocks noGrp="1"/>
          </p:cNvSpPr>
          <p:nvPr/>
        </p:nvSpPr>
        <p:spPr>
          <a:xfrm>
            <a:off x="5880520" y="1050000"/>
            <a:ext cx="590000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3EB54A"/>
                </a:solidFill>
              </a:rPr>
              <a:t>What happens after the LLM responds</a:t>
            </a:r>
          </a:p>
        </p:txBody>
      </p:sp>
      <p:sp>
        <p:nvSpPr>
          <p:cNvPr id="20" name="RetBg0"/>
          <p:cNvSpPr>
            <a:spLocks noGrp="1"/>
          </p:cNvSpPr>
          <p:nvPr/>
        </p:nvSpPr>
        <p:spPr>
          <a:xfrm>
            <a:off x="5880520" y="1500000"/>
            <a:ext cx="5900000" cy="64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0" name="Badge30"/>
          <p:cNvSpPr txBox="1">
            <a:spLocks noGrp="1"/>
          </p:cNvSpPr>
          <p:nvPr/>
        </p:nvSpPr>
        <p:spPr>
          <a:xfrm>
            <a:off x="5960520" y="1680000"/>
            <a:ext cx="1200000" cy="280000"/>
          </a:xfrm>
          <a:prstGeom prst="rect">
            <a:avLst/>
          </a:prstGeom>
          <a:solidFill>
            <a:srgbClr val="FBAE4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LLM returns</a:t>
            </a:r>
          </a:p>
        </p:txBody>
      </p:sp>
      <p:sp>
        <p:nvSpPr>
          <p:cNvPr id="40" name="RetTxt0"/>
          <p:cNvSpPr txBox="1">
            <a:spLocks noGrp="1"/>
          </p:cNvSpPr>
          <p:nvPr/>
        </p:nvSpPr>
        <p:spPr>
          <a:xfrm>
            <a:off x="7280520" y="1580000"/>
            <a:ext cx="4350000" cy="48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3 sub-queries + exclusion list + tone signal</a:t>
            </a:r>
          </a:p>
        </p:txBody>
      </p:sp>
      <p:sp>
        <p:nvSpPr>
          <p:cNvPr id="21" name="RetBg1"/>
          <p:cNvSpPr>
            <a:spLocks noGrp="1"/>
          </p:cNvSpPr>
          <p:nvPr/>
        </p:nvSpPr>
        <p:spPr>
          <a:xfrm>
            <a:off x="5880520" y="2220000"/>
            <a:ext cx="5900000" cy="64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1" name="Badge31"/>
          <p:cNvSpPr txBox="1">
            <a:spLocks noGrp="1"/>
          </p:cNvSpPr>
          <p:nvPr/>
        </p:nvSpPr>
        <p:spPr>
          <a:xfrm>
            <a:off x="5960520" y="2400000"/>
            <a:ext cx="1200000" cy="280000"/>
          </a:xfrm>
          <a:prstGeom prst="rect">
            <a:avLst/>
          </a:prstGeom>
          <a:solidFill>
            <a:srgbClr val="3070B5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Parallel k-NN</a:t>
            </a:r>
          </a:p>
        </p:txBody>
      </p:sp>
      <p:sp>
        <p:nvSpPr>
          <p:cNvPr id="41" name="RetTxt1"/>
          <p:cNvSpPr txBox="1">
            <a:spLocks noGrp="1"/>
          </p:cNvSpPr>
          <p:nvPr/>
        </p:nvSpPr>
        <p:spPr>
          <a:xfrm>
            <a:off x="7280520" y="2300000"/>
            <a:ext cx="4350000" cy="48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3 × OpenSearch knn_vector queries (async)</a:t>
            </a:r>
          </a:p>
        </p:txBody>
      </p:sp>
      <p:sp>
        <p:nvSpPr>
          <p:cNvPr id="22" name="RetBg2"/>
          <p:cNvSpPr>
            <a:spLocks noGrp="1"/>
          </p:cNvSpPr>
          <p:nvPr/>
        </p:nvSpPr>
        <p:spPr>
          <a:xfrm>
            <a:off x="5880520" y="2940000"/>
            <a:ext cx="5900000" cy="64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A32D2D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2" name="Badge32"/>
          <p:cNvSpPr txBox="1">
            <a:spLocks noGrp="1"/>
          </p:cNvSpPr>
          <p:nvPr/>
        </p:nvSpPr>
        <p:spPr>
          <a:xfrm>
            <a:off x="5960520" y="3120000"/>
            <a:ext cx="1200000" cy="2800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Exclusion filter</a:t>
            </a:r>
          </a:p>
        </p:txBody>
      </p:sp>
      <p:sp>
        <p:nvSpPr>
          <p:cNvPr id="42" name="RetTxt2"/>
          <p:cNvSpPr txBox="1">
            <a:spLocks noGrp="1"/>
          </p:cNvSpPr>
          <p:nvPr/>
        </p:nvSpPr>
        <p:spPr>
          <a:xfrm>
            <a:off x="7280520" y="3020000"/>
            <a:ext cx="4350000" cy="48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cosine_sim &gt; 0.85 to exclusion embeddings → drop</a:t>
            </a:r>
          </a:p>
        </p:txBody>
      </p:sp>
      <p:sp>
        <p:nvSpPr>
          <p:cNvPr id="23" name="RetBg3"/>
          <p:cNvSpPr>
            <a:spLocks noGrp="1"/>
          </p:cNvSpPr>
          <p:nvPr/>
        </p:nvSpPr>
        <p:spPr>
          <a:xfrm>
            <a:off x="5880520" y="3660000"/>
            <a:ext cx="5900000" cy="64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3" name="Badge33"/>
          <p:cNvSpPr txBox="1">
            <a:spLocks noGrp="1"/>
          </p:cNvSpPr>
          <p:nvPr/>
        </p:nvSpPr>
        <p:spPr>
          <a:xfrm>
            <a:off x="5960520" y="3840000"/>
            <a:ext cx="1200000" cy="280000"/>
          </a:xfrm>
          <a:prstGeom prst="rect">
            <a:avLst/>
          </a:prstGeom>
          <a:solidFill>
            <a:srgbClr val="3EB54A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Merge + re-rank</a:t>
            </a:r>
          </a:p>
        </p:txBody>
      </p:sp>
      <p:sp>
        <p:nvSpPr>
          <p:cNvPr id="43" name="RetTxt3"/>
          <p:cNvSpPr txBox="1">
            <a:spLocks noGrp="1"/>
          </p:cNvSpPr>
          <p:nvPr/>
        </p:nvSpPr>
        <p:spPr>
          <a:xfrm>
            <a:off x="7280520" y="3740000"/>
            <a:ext cx="4350000" cy="48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composite score = intent_sim × tone_score</a:t>
            </a:r>
          </a:p>
        </p:txBody>
      </p:sp>
      <p:sp>
        <p:nvSpPr>
          <p:cNvPr id="24" name="RetBg4"/>
          <p:cNvSpPr>
            <a:spLocks noGrp="1"/>
          </p:cNvSpPr>
          <p:nvPr/>
        </p:nvSpPr>
        <p:spPr>
          <a:xfrm>
            <a:off x="5880520" y="4380000"/>
            <a:ext cx="5900000" cy="640000"/>
          </a:xfrm>
          <a:prstGeom prst="roundRect">
            <a:avLst>
              <a:gd name="adj" fmla="val 10000"/>
            </a:avLst>
          </a:prstGeom>
          <a:solidFill>
            <a:srgbClr val="E8F4FB"/>
          </a:solidFill>
          <a:ln w="9525">
            <a:solidFill>
              <a:srgbClr val="7FBBC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4" name="Badge34"/>
          <p:cNvSpPr txBox="1">
            <a:spLocks noGrp="1"/>
          </p:cNvSpPr>
          <p:nvPr/>
        </p:nvSpPr>
        <p:spPr>
          <a:xfrm>
            <a:off x="5960520" y="4560000"/>
            <a:ext cx="1200000" cy="280000"/>
          </a:xfrm>
          <a:prstGeom prst="rect">
            <a:avLst/>
          </a:prstGeom>
          <a:solidFill>
            <a:srgbClr val="7FBBC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 trace</a:t>
            </a:r>
          </a:p>
        </p:txBody>
      </p:sp>
      <p:sp>
        <p:nvSpPr>
          <p:cNvPr id="44" name="RetTxt4"/>
          <p:cNvSpPr txBox="1">
            <a:spLocks noGrp="1"/>
          </p:cNvSpPr>
          <p:nvPr/>
        </p:nvSpPr>
        <p:spPr>
          <a:xfrm>
            <a:off x="7280520" y="4460000"/>
            <a:ext cx="4350000" cy="48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73839"/>
                </a:solidFill>
              </a:rPr>
              <a:t>LLM output streamed token-by-token via SSE</a:t>
            </a:r>
          </a:p>
        </p:txBody>
      </p:sp>
      <p:sp>
        <p:nvSpPr>
          <p:cNvPr id="50" name="CognNote"/>
          <p:cNvSpPr txBox="1">
            <a:spLocks noGrp="1"/>
          </p:cNvSpPr>
          <p:nvPr/>
        </p:nvSpPr>
        <p:spPr>
          <a:xfrm>
            <a:off x="411480" y="5150000"/>
            <a:ext cx="1136904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rgbClr val="373839"/>
                </a:solidFill>
              </a:rPr>
              <a:t>Fallback chain: NVIDIA NIM (2 attempts) → OpenAI gpt-4o-mini → scripted trace. Never shows error on stage.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Journey: all three pillars in one conversation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Demo — tap Journey tab · choose scenario A (Creative Director) or B (Developer)</a:t>
            </a:r>
          </a:p>
        </p:txBody>
      </p:sp>
      <p:sp>
        <p:nvSpPr>
          <p:cNvPr id="10" name="JBg0"/>
          <p:cNvSpPr>
            <a:spLocks noGrp="1"/>
          </p:cNvSpPr>
          <p:nvPr/>
        </p:nvSpPr>
        <p:spPr>
          <a:xfrm>
            <a:off x="411480" y="1050000"/>
            <a:ext cx="5100000" cy="42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JTitle0"/>
          <p:cNvSpPr txBox="1">
            <a:spLocks noGrp="1"/>
          </p:cNvSpPr>
          <p:nvPr/>
        </p:nvSpPr>
        <p:spPr>
          <a:xfrm>
            <a:off x="561480" y="1200000"/>
            <a:ext cx="480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070B5"/>
                </a:solidFill>
              </a:rPr>
              <a:t>Journey A — Creative Director</a:t>
            </a:r>
          </a:p>
        </p:txBody>
      </p:sp>
      <p:sp>
        <p:nvSpPr>
          <p:cNvPr id="30" name="Badge30"/>
          <p:cNvSpPr txBox="1">
            <a:spLocks noGrp="1"/>
          </p:cNvSpPr>
          <p:nvPr/>
        </p:nvSpPr>
        <p:spPr>
          <a:xfrm>
            <a:off x="561480" y="1850000"/>
            <a:ext cx="1100000" cy="260000"/>
          </a:xfrm>
          <a:prstGeom prst="rect">
            <a:avLst/>
          </a:prstGeom>
          <a:solidFill>
            <a:srgbClr val="3070B5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Intent</a:t>
            </a:r>
          </a:p>
        </p:txBody>
      </p:sp>
      <p:sp>
        <p:nvSpPr>
          <p:cNvPr id="40" name="JStep00"/>
          <p:cNvSpPr txBox="1">
            <a:spLocks noGrp="1"/>
          </p:cNvSpPr>
          <p:nvPr/>
        </p:nvSpPr>
        <p:spPr>
          <a:xfrm>
            <a:off x="561480" y="2160000"/>
            <a:ext cx="480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"Intent: stillness that doesn't feel empty"</a:t>
            </a:r>
          </a:p>
        </p:txBody>
      </p:sp>
      <p:sp>
        <p:nvSpPr>
          <p:cNvPr id="31" name="Badge31"/>
          <p:cNvSpPr txBox="1">
            <a:spLocks noGrp="1"/>
          </p:cNvSpPr>
          <p:nvPr/>
        </p:nvSpPr>
        <p:spPr>
          <a:xfrm>
            <a:off x="561480" y="2830000"/>
            <a:ext cx="1100000" cy="260000"/>
          </a:xfrm>
          <a:prstGeom prst="rect">
            <a:avLst/>
          </a:prstGeom>
          <a:solidFill>
            <a:srgbClr val="7FBBC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41" name="JStep01"/>
          <p:cNvSpPr txBox="1">
            <a:spLocks noGrp="1"/>
          </p:cNvSpPr>
          <p:nvPr/>
        </p:nvSpPr>
        <p:spPr>
          <a:xfrm>
            <a:off x="561480" y="3140000"/>
            <a:ext cx="480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"Context: add human presence, keep that quiet"</a:t>
            </a:r>
          </a:p>
        </p:txBody>
      </p:sp>
      <p:sp>
        <p:nvSpPr>
          <p:cNvPr id="32" name="Badge32"/>
          <p:cNvSpPr txBox="1">
            <a:spLocks noGrp="1"/>
          </p:cNvSpPr>
          <p:nvPr/>
        </p:nvSpPr>
        <p:spPr>
          <a:xfrm>
            <a:off x="561480" y="3810000"/>
            <a:ext cx="1100000" cy="260000"/>
          </a:xfrm>
          <a:prstGeom prst="rect">
            <a:avLst/>
          </a:prstGeom>
          <a:solidFill>
            <a:srgbClr val="FBAE4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Cognition</a:t>
            </a:r>
          </a:p>
        </p:txBody>
      </p:sp>
      <p:sp>
        <p:nvSpPr>
          <p:cNvPr id="42" name="JStep02"/>
          <p:cNvSpPr txBox="1">
            <a:spLocks noGrp="1"/>
          </p:cNvSpPr>
          <p:nvPr/>
        </p:nvSpPr>
        <p:spPr>
          <a:xfrm>
            <a:off x="561480" y="4120000"/>
            <a:ext cx="480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"Cognition: aspirational but not out of reach"</a:t>
            </a:r>
          </a:p>
        </p:txBody>
      </p:sp>
      <p:sp>
        <p:nvSpPr>
          <p:cNvPr id="11" name="JBg1"/>
          <p:cNvSpPr>
            <a:spLocks noGrp="1"/>
          </p:cNvSpPr>
          <p:nvPr/>
        </p:nvSpPr>
        <p:spPr>
          <a:xfrm>
            <a:off x="5911480" y="1050000"/>
            <a:ext cx="5100000" cy="42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JTitle1"/>
          <p:cNvSpPr txBox="1">
            <a:spLocks noGrp="1"/>
          </p:cNvSpPr>
          <p:nvPr/>
        </p:nvSpPr>
        <p:spPr>
          <a:xfrm>
            <a:off x="6061480" y="1200000"/>
            <a:ext cx="480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EB54A"/>
                </a:solidFill>
              </a:rPr>
              <a:t>Journey B — Developer</a:t>
            </a:r>
          </a:p>
        </p:txBody>
      </p:sp>
      <p:sp>
        <p:nvSpPr>
          <p:cNvPr id="40" name="Badge40"/>
          <p:cNvSpPr txBox="1">
            <a:spLocks noGrp="1"/>
          </p:cNvSpPr>
          <p:nvPr/>
        </p:nvSpPr>
        <p:spPr>
          <a:xfrm>
            <a:off x="6061480" y="1850000"/>
            <a:ext cx="1100000" cy="260000"/>
          </a:xfrm>
          <a:prstGeom prst="rect">
            <a:avLst/>
          </a:prstGeom>
          <a:solidFill>
            <a:srgbClr val="3070B5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Intent</a:t>
            </a:r>
          </a:p>
        </p:txBody>
      </p:sp>
      <p:sp>
        <p:nvSpPr>
          <p:cNvPr id="50" name="JStep10"/>
          <p:cNvSpPr txBox="1">
            <a:spLocks noGrp="1"/>
          </p:cNvSpPr>
          <p:nvPr/>
        </p:nvSpPr>
        <p:spPr>
          <a:xfrm>
            <a:off x="6061480" y="2160000"/>
            <a:ext cx="480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"Intent: the feeling of being absorbed in your work"</a:t>
            </a:r>
          </a:p>
        </p:txBody>
      </p:sp>
      <p:sp>
        <p:nvSpPr>
          <p:cNvPr id="41" name="Badge41"/>
          <p:cNvSpPr txBox="1">
            <a:spLocks noGrp="1"/>
          </p:cNvSpPr>
          <p:nvPr/>
        </p:nvSpPr>
        <p:spPr>
          <a:xfrm>
            <a:off x="6061480" y="2830000"/>
            <a:ext cx="1100000" cy="260000"/>
          </a:xfrm>
          <a:prstGeom prst="rect">
            <a:avLst/>
          </a:prstGeom>
          <a:solidFill>
            <a:srgbClr val="7FBBC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51" name="JStep11"/>
          <p:cNvSpPr txBox="1">
            <a:spLocks noGrp="1"/>
          </p:cNvSpPr>
          <p:nvPr/>
        </p:nvSpPr>
        <p:spPr>
          <a:xfrm>
            <a:off x="6061480" y="3140000"/>
            <a:ext cx="480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"Context: bring in collaborative energy"</a:t>
            </a:r>
          </a:p>
        </p:txBody>
      </p:sp>
      <p:sp>
        <p:nvSpPr>
          <p:cNvPr id="42" name="Badge42"/>
          <p:cNvSpPr txBox="1">
            <a:spLocks noGrp="1"/>
          </p:cNvSpPr>
          <p:nvPr/>
        </p:nvSpPr>
        <p:spPr>
          <a:xfrm>
            <a:off x="6061480" y="3810000"/>
            <a:ext cx="1100000" cy="260000"/>
          </a:xfrm>
          <a:prstGeom prst="rect">
            <a:avLst/>
          </a:prstGeom>
          <a:solidFill>
            <a:srgbClr val="FBAE4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Cognition</a:t>
            </a:r>
          </a:p>
        </p:txBody>
      </p:sp>
      <p:sp>
        <p:nvSpPr>
          <p:cNvPr id="52" name="JStep12"/>
          <p:cNvSpPr txBox="1">
            <a:spLocks noGrp="1"/>
          </p:cNvSpPr>
          <p:nvPr/>
        </p:nvSpPr>
        <p:spPr>
          <a:xfrm>
            <a:off x="6061480" y="4120000"/>
            <a:ext cx="480000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"Cognition: future of work, not the past"</a:t>
            </a:r>
          </a:p>
        </p:txBody>
      </p:sp>
      <p:sp>
        <p:nvSpPr>
          <p:cNvPr id="60" name="StepNote"/>
          <p:cNvSpPr>
            <a:spLocks noGrp="1"/>
          </p:cNvSpPr>
          <p:nvPr/>
        </p:nvSpPr>
        <p:spPr>
          <a:xfrm>
            <a:off x="411480" y="5450000"/>
            <a:ext cx="11369040" cy="600000"/>
          </a:xfrm>
          <a:prstGeom prst="roundRect">
            <a:avLst>
              <a:gd name="adj" fmla="val 10000"/>
            </a:avLst>
          </a:prstGeom>
          <a:solidFill>
            <a:srgbClr val="FFF3D0"/>
          </a:solidFill>
          <a:ln w="9525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1" name="StepNoteTxt"/>
          <p:cNvSpPr txBox="1">
            <a:spLocks noGrp="1"/>
          </p:cNvSpPr>
          <p:nvPr/>
        </p:nvSpPr>
        <p:spPr>
          <a:xfrm>
            <a:off x="611480" y="5550000"/>
            <a:ext cx="1096904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 xml:space="preserve">Step 4 shows all three Discovery result sets side by side. Pause. Let the audience look. Then deliver: </a:t>
            </a:r>
            <a:r>
              <a:rPr lang="en-US" sz="1500" b="1" i="1" dirty="0">
                <a:solidFill>
                  <a:srgbClr val="15395A"/>
                </a:solidFill>
              </a:rPr>
              <a:t>"This is not search. This is discovery."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Journey: pre-computed session arcs — deterministic on stage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070B5"/>
                </a:solidFill>
              </a:rPr>
              <a:t>Session vectors computed offline in pipeline · no live embedding calls during demo</a:t>
            </a:r>
          </a:p>
        </p:txBody>
      </p:sp>
      <p:sp>
        <p:nvSpPr>
          <p:cNvPr id="10" name="TblHdrBg"/>
          <p:cNvSpPr>
            <a:spLocks noGrp="1"/>
          </p:cNvSpPr>
          <p:nvPr/>
        </p:nvSpPr>
        <p:spPr>
          <a:xfrm>
            <a:off x="411480" y="1050000"/>
            <a:ext cx="11369040" cy="400000"/>
          </a:xfrm>
          <a:prstGeom prst="roundRect">
            <a:avLst>
              <a:gd name="adj" fmla="val 10000"/>
            </a:avLst>
          </a:prstGeom>
          <a:solidFill>
            <a:srgbClr val="15395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TH0"/>
          <p:cNvSpPr txBox="1">
            <a:spLocks noGrp="1"/>
          </p:cNvSpPr>
          <p:nvPr/>
        </p:nvSpPr>
        <p:spPr>
          <a:xfrm>
            <a:off x="411480" y="110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21" name="TH1"/>
          <p:cNvSpPr txBox="1">
            <a:spLocks noGrp="1"/>
          </p:cNvSpPr>
          <p:nvPr/>
        </p:nvSpPr>
        <p:spPr>
          <a:xfrm>
            <a:off x="1261480" y="1100000"/>
            <a:ext cx="1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Pillar</a:t>
            </a:r>
          </a:p>
        </p:txBody>
      </p:sp>
      <p:sp>
        <p:nvSpPr>
          <p:cNvPr id="22" name="TH2"/>
          <p:cNvSpPr txBox="1">
            <a:spLocks noGrp="1"/>
          </p:cNvSpPr>
          <p:nvPr/>
        </p:nvSpPr>
        <p:spPr>
          <a:xfrm>
            <a:off x="2411480" y="110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Query text</a:t>
            </a:r>
          </a:p>
        </p:txBody>
      </p:sp>
      <p:sp>
        <p:nvSpPr>
          <p:cNvPr id="23" name="TH3"/>
          <p:cNvSpPr txBox="1">
            <a:spLocks noGrp="1"/>
          </p:cNvSpPr>
          <p:nvPr/>
        </p:nvSpPr>
        <p:spPr>
          <a:xfrm>
            <a:off x="5661480" y="110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vector</a:t>
            </a:r>
          </a:p>
        </p:txBody>
      </p:sp>
      <p:sp>
        <p:nvSpPr>
          <p:cNvPr id="24" name="TH4"/>
          <p:cNvSpPr txBox="1">
            <a:spLocks noGrp="1"/>
          </p:cNvSpPr>
          <p:nvPr/>
        </p:nvSpPr>
        <p:spPr>
          <a:xfrm>
            <a:off x="8211480" y="110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OpenSearch calls</a:t>
            </a:r>
          </a:p>
        </p:txBody>
      </p:sp>
      <p:sp>
        <p:nvSpPr>
          <p:cNvPr id="30" name="TR0"/>
          <p:cNvSpPr>
            <a:spLocks noGrp="1"/>
          </p:cNvSpPr>
          <p:nvPr/>
        </p:nvSpPr>
        <p:spPr>
          <a:xfrm>
            <a:off x="411480" y="1450000"/>
            <a:ext cx="11369040" cy="570000"/>
          </a:xfrm>
          <a:prstGeom prst="rect">
            <a:avLst/>
          </a:prstGeom>
          <a:solidFill>
            <a:srgbClr val="E8F4FB"/>
          </a:solidFill>
          <a:ln w="9525">
            <a:solidFill>
              <a:srgbClr val="C0D0E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0" name="TC00"/>
          <p:cNvSpPr txBox="1">
            <a:spLocks noGrp="1"/>
          </p:cNvSpPr>
          <p:nvPr/>
        </p:nvSpPr>
        <p:spPr>
          <a:xfrm>
            <a:off x="411480" y="1530000"/>
            <a:ext cx="8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73839"/>
                </a:solidFill>
              </a:rPr>
              <a:t>1</a:t>
            </a:r>
          </a:p>
        </p:txBody>
      </p:sp>
      <p:sp>
        <p:nvSpPr>
          <p:cNvPr id="41" name="TC01"/>
          <p:cNvSpPr txBox="1">
            <a:spLocks noGrp="1"/>
          </p:cNvSpPr>
          <p:nvPr/>
        </p:nvSpPr>
        <p:spPr>
          <a:xfrm>
            <a:off x="1261480" y="1530000"/>
            <a:ext cx="11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BAE40"/>
                </a:solidFill>
              </a:rPr>
              <a:t>Intent</a:t>
            </a:r>
          </a:p>
        </p:txBody>
      </p:sp>
      <p:sp>
        <p:nvSpPr>
          <p:cNvPr id="42" name="TC02"/>
          <p:cNvSpPr txBox="1">
            <a:spLocks noGrp="1"/>
          </p:cNvSpPr>
          <p:nvPr/>
        </p:nvSpPr>
        <p:spPr>
          <a:xfrm>
            <a:off x="2411480" y="1530000"/>
            <a:ext cx="32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"stillness..."</a:t>
            </a:r>
          </a:p>
        </p:txBody>
      </p:sp>
      <p:sp>
        <p:nvSpPr>
          <p:cNvPr id="43" name="TC03"/>
          <p:cNvSpPr txBox="1">
            <a:spLocks noGrp="1"/>
          </p:cNvSpPr>
          <p:nvPr/>
        </p:nvSpPr>
        <p:spPr>
          <a:xfrm>
            <a:off x="5661480" y="1530000"/>
            <a:ext cx="25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v₁ = embed(q₁)</a:t>
            </a:r>
          </a:p>
        </p:txBody>
      </p:sp>
      <p:sp>
        <p:nvSpPr>
          <p:cNvPr id="44" name="TC04"/>
          <p:cNvSpPr txBox="1">
            <a:spLocks noGrp="1"/>
          </p:cNvSpPr>
          <p:nvPr/>
        </p:nvSpPr>
        <p:spPr>
          <a:xfrm>
            <a:off x="8211480" y="153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2 (BM25+kNN)</a:t>
            </a:r>
          </a:p>
        </p:txBody>
      </p:sp>
      <p:sp>
        <p:nvSpPr>
          <p:cNvPr id="31" name="TR1"/>
          <p:cNvSpPr>
            <a:spLocks noGrp="1"/>
          </p:cNvSpPr>
          <p:nvPr/>
        </p:nvSpPr>
        <p:spPr>
          <a:xfrm>
            <a:off x="411480" y="2050000"/>
            <a:ext cx="11369040" cy="5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D0E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0" name="TC10"/>
          <p:cNvSpPr txBox="1">
            <a:spLocks noGrp="1"/>
          </p:cNvSpPr>
          <p:nvPr/>
        </p:nvSpPr>
        <p:spPr>
          <a:xfrm>
            <a:off x="411480" y="2130000"/>
            <a:ext cx="8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73839"/>
                </a:solidFill>
              </a:rPr>
              <a:t>2</a:t>
            </a:r>
          </a:p>
        </p:txBody>
      </p:sp>
      <p:sp>
        <p:nvSpPr>
          <p:cNvPr id="51" name="TC11"/>
          <p:cNvSpPr txBox="1">
            <a:spLocks noGrp="1"/>
          </p:cNvSpPr>
          <p:nvPr/>
        </p:nvSpPr>
        <p:spPr>
          <a:xfrm>
            <a:off x="1261480" y="2130000"/>
            <a:ext cx="11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BAE40"/>
                </a:solidFill>
              </a:rPr>
              <a:t>Context</a:t>
            </a:r>
          </a:p>
        </p:txBody>
      </p:sp>
      <p:sp>
        <p:nvSpPr>
          <p:cNvPr id="52" name="TC12"/>
          <p:cNvSpPr txBox="1">
            <a:spLocks noGrp="1"/>
          </p:cNvSpPr>
          <p:nvPr/>
        </p:nvSpPr>
        <p:spPr>
          <a:xfrm>
            <a:off x="2411480" y="2130000"/>
            <a:ext cx="32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"add human..."</a:t>
            </a:r>
          </a:p>
        </p:txBody>
      </p:sp>
      <p:sp>
        <p:nvSpPr>
          <p:cNvPr id="53" name="TC13"/>
          <p:cNvSpPr txBox="1">
            <a:spLocks noGrp="1"/>
          </p:cNvSpPr>
          <p:nvPr/>
        </p:nvSpPr>
        <p:spPr>
          <a:xfrm>
            <a:off x="5661480" y="2130000"/>
            <a:ext cx="25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0.70·v₁ + 1.0·v₂, normalized</a:t>
            </a:r>
          </a:p>
        </p:txBody>
      </p:sp>
      <p:sp>
        <p:nvSpPr>
          <p:cNvPr id="54" name="TC14"/>
          <p:cNvSpPr txBox="1">
            <a:spLocks noGrp="1"/>
          </p:cNvSpPr>
          <p:nvPr/>
        </p:nvSpPr>
        <p:spPr>
          <a:xfrm>
            <a:off x="8211480" y="213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2 (BM25+kNN)</a:t>
            </a:r>
          </a:p>
        </p:txBody>
      </p:sp>
      <p:sp>
        <p:nvSpPr>
          <p:cNvPr id="32" name="TR2"/>
          <p:cNvSpPr>
            <a:spLocks noGrp="1"/>
          </p:cNvSpPr>
          <p:nvPr/>
        </p:nvSpPr>
        <p:spPr>
          <a:xfrm>
            <a:off x="411480" y="2650000"/>
            <a:ext cx="11369040" cy="570000"/>
          </a:xfrm>
          <a:prstGeom prst="rect">
            <a:avLst/>
          </a:prstGeom>
          <a:solidFill>
            <a:srgbClr val="E8F4FB"/>
          </a:solidFill>
          <a:ln w="9525">
            <a:solidFill>
              <a:srgbClr val="C0D0E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0" name="TC20"/>
          <p:cNvSpPr txBox="1">
            <a:spLocks noGrp="1"/>
          </p:cNvSpPr>
          <p:nvPr/>
        </p:nvSpPr>
        <p:spPr>
          <a:xfrm>
            <a:off x="411480" y="2730000"/>
            <a:ext cx="8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73839"/>
                </a:solidFill>
              </a:rPr>
              <a:t>3</a:t>
            </a:r>
          </a:p>
        </p:txBody>
      </p:sp>
      <p:sp>
        <p:nvSpPr>
          <p:cNvPr id="61" name="TC21"/>
          <p:cNvSpPr txBox="1">
            <a:spLocks noGrp="1"/>
          </p:cNvSpPr>
          <p:nvPr/>
        </p:nvSpPr>
        <p:spPr>
          <a:xfrm>
            <a:off x="1261480" y="2730000"/>
            <a:ext cx="11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BAE40"/>
                </a:solidFill>
              </a:rPr>
              <a:t>Cognition</a:t>
            </a:r>
          </a:p>
        </p:txBody>
      </p:sp>
      <p:sp>
        <p:nvSpPr>
          <p:cNvPr id="62" name="TC22"/>
          <p:cNvSpPr txBox="1">
            <a:spLocks noGrp="1"/>
          </p:cNvSpPr>
          <p:nvPr/>
        </p:nvSpPr>
        <p:spPr>
          <a:xfrm>
            <a:off x="2411480" y="2730000"/>
            <a:ext cx="32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"aspirational..."</a:t>
            </a:r>
          </a:p>
        </p:txBody>
      </p:sp>
      <p:sp>
        <p:nvSpPr>
          <p:cNvPr id="63" name="TC23"/>
          <p:cNvSpPr txBox="1">
            <a:spLocks noGrp="1"/>
          </p:cNvSpPr>
          <p:nvPr/>
        </p:nvSpPr>
        <p:spPr>
          <a:xfrm>
            <a:off x="5661480" y="2730000"/>
            <a:ext cx="25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0.49·v₁+0.70·v₂+1.0·v₃, LLM</a:t>
            </a:r>
          </a:p>
        </p:txBody>
      </p:sp>
      <p:sp>
        <p:nvSpPr>
          <p:cNvPr id="64" name="TC24"/>
          <p:cNvSpPr txBox="1">
            <a:spLocks noGrp="1"/>
          </p:cNvSpPr>
          <p:nvPr/>
        </p:nvSpPr>
        <p:spPr>
          <a:xfrm>
            <a:off x="8211480" y="273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6 (3 sub-queries)</a:t>
            </a:r>
          </a:p>
        </p:txBody>
      </p:sp>
      <p:sp>
        <p:nvSpPr>
          <p:cNvPr id="33" name="TR3"/>
          <p:cNvSpPr>
            <a:spLocks noGrp="1"/>
          </p:cNvSpPr>
          <p:nvPr/>
        </p:nvSpPr>
        <p:spPr>
          <a:xfrm>
            <a:off x="411480" y="3250000"/>
            <a:ext cx="11369040" cy="5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D0E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0" name="TC30"/>
          <p:cNvSpPr txBox="1">
            <a:spLocks noGrp="1"/>
          </p:cNvSpPr>
          <p:nvPr/>
        </p:nvSpPr>
        <p:spPr>
          <a:xfrm>
            <a:off x="411480" y="3330000"/>
            <a:ext cx="8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73839"/>
                </a:solidFill>
              </a:rPr>
              <a:t>4</a:t>
            </a:r>
          </a:p>
        </p:txBody>
      </p:sp>
      <p:sp>
        <p:nvSpPr>
          <p:cNvPr id="71" name="TC31"/>
          <p:cNvSpPr txBox="1">
            <a:spLocks noGrp="1"/>
          </p:cNvSpPr>
          <p:nvPr/>
        </p:nvSpPr>
        <p:spPr>
          <a:xfrm>
            <a:off x="1261480" y="3330000"/>
            <a:ext cx="11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BAE40"/>
                </a:solidFill>
              </a:rPr>
              <a:t>Display</a:t>
            </a:r>
          </a:p>
        </p:txBody>
      </p:sp>
      <p:sp>
        <p:nvSpPr>
          <p:cNvPr id="72" name="TC32"/>
          <p:cNvSpPr txBox="1">
            <a:spLocks noGrp="1"/>
          </p:cNvSpPr>
          <p:nvPr/>
        </p:nvSpPr>
        <p:spPr>
          <a:xfrm>
            <a:off x="2411480" y="3330000"/>
            <a:ext cx="32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Full journey view</a:t>
            </a:r>
          </a:p>
        </p:txBody>
      </p:sp>
      <p:sp>
        <p:nvSpPr>
          <p:cNvPr id="73" name="TC33"/>
          <p:cNvSpPr txBox="1">
            <a:spLocks noGrp="1"/>
          </p:cNvSpPr>
          <p:nvPr/>
        </p:nvSpPr>
        <p:spPr>
          <a:xfrm>
            <a:off x="5661480" y="3330000"/>
            <a:ext cx="25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No search call</a:t>
            </a:r>
          </a:p>
        </p:txBody>
      </p:sp>
      <p:sp>
        <p:nvSpPr>
          <p:cNvPr id="74" name="TC34"/>
          <p:cNvSpPr txBox="1">
            <a:spLocks noGrp="1"/>
          </p:cNvSpPr>
          <p:nvPr/>
        </p:nvSpPr>
        <p:spPr>
          <a:xfrm>
            <a:off x="8211480" y="333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373839"/>
                </a:solidFill>
              </a:rPr>
              <a:t>0 (display only)</a:t>
            </a:r>
          </a:p>
        </p:txBody>
      </p:sp>
      <p:sp>
        <p:nvSpPr>
          <p:cNvPr id="80" name="PipeNote"/>
          <p:cNvSpPr>
            <a:spLocks noGrp="1"/>
          </p:cNvSpPr>
          <p:nvPr/>
        </p:nvSpPr>
        <p:spPr>
          <a:xfrm>
            <a:off x="411480" y="3750000"/>
            <a:ext cx="11369040" cy="900000"/>
          </a:xfrm>
          <a:prstGeom prst="roundRect">
            <a:avLst>
              <a:gd name="adj" fmla="val 15000"/>
            </a:avLst>
          </a:prstGeom>
          <a:solidFill>
            <a:srgbClr val="1A3347"/>
          </a:solidFill>
          <a:ln w="9525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1" name="PipeNoteTxt"/>
          <p:cNvSpPr txBox="1">
            <a:spLocks noGrp="1"/>
          </p:cNvSpPr>
          <p:nvPr/>
        </p:nvSpPr>
        <p:spPr>
          <a:xfrm>
            <a:off x="611480" y="3850000"/>
            <a:ext cx="1096904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3EB54A"/>
                </a:solidFill>
              </a:rPr>
              <a:t>Pipeline script 02_generate_embeddings.py pre-computes: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C8E6F4"/>
                </a:solidFill>
              </a:rPr>
              <a:t>· session_accumulated_embedding per step  ·  stored in queries_standard.json / queries_extended.json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7FBBC0"/>
                </a:solidFill>
              </a:rPr>
              <a:t>· At demo time: API reads pre-computed vector, fires k-NN. Zero embedding API calls on stage.</a:t>
            </a:r>
          </a:p>
        </p:txBody>
      </p:sp>
      <p:sp>
        <p:nvSpPr>
          <p:cNvPr id="82" name="TotalNote"/>
          <p:cNvSpPr txBox="1">
            <a:spLocks noGrp="1"/>
          </p:cNvSpPr>
          <p:nvPr/>
        </p:nvSpPr>
        <p:spPr>
          <a:xfrm>
            <a:off x="411480" y="4800000"/>
            <a:ext cx="1136904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373839"/>
                </a:solidFill>
              </a:rPr>
              <a:t>Total OpenSearch calls per journey run: 10 (BM25×3 + k-NN×3 + 3 sub-query k-NN at step 3)  ·  All parallel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Production architecture: three layers, one OpenSearch backbone</a:t>
            </a:r>
          </a:p>
        </p:txBody>
      </p:sp>
      <p:sp>
        <p:nvSpPr>
          <p:cNvPr id="10" name="ArchBg0"/>
          <p:cNvSpPr>
            <a:spLocks noGrp="1"/>
          </p:cNvSpPr>
          <p:nvPr/>
        </p:nvSpPr>
        <p:spPr>
          <a:xfrm>
            <a:off x="411480" y="1050000"/>
            <a:ext cx="3400000" cy="44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Badge20"/>
          <p:cNvSpPr txBox="1">
            <a:spLocks noGrp="1"/>
          </p:cNvSpPr>
          <p:nvPr/>
        </p:nvSpPr>
        <p:spPr>
          <a:xfrm>
            <a:off x="1011480" y="1150000"/>
            <a:ext cx="2200000" cy="320000"/>
          </a:xfrm>
          <a:prstGeom prst="rect">
            <a:avLst/>
          </a:prstGeom>
          <a:solidFill>
            <a:srgbClr val="3070B5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Vercel (Next.js 14)</a:t>
            </a:r>
          </a:p>
        </p:txBody>
      </p:sp>
      <p:sp>
        <p:nvSpPr>
          <p:cNvPr id="30" name="ArchBody0"/>
          <p:cNvSpPr txBox="1">
            <a:spLocks noGrp="1"/>
          </p:cNvSpPr>
          <p:nvPr/>
        </p:nvSpPr>
        <p:spPr>
          <a:xfrm>
            <a:off x="561480" y="1650000"/>
            <a:ext cx="3100000" cy="3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Query selector UI — no free-form input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/api/search — parallel BM25 + k-NN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/api/session — session vector CRUD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/api/trace — SSE streaming, LLM fallback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CorpusToggle: 8K standard / 20K extended</a:t>
            </a:r>
          </a:p>
        </p:txBody>
      </p:sp>
      <p:sp>
        <p:nvSpPr>
          <p:cNvPr id="11" name="ArchBg1"/>
          <p:cNvSpPr>
            <a:spLocks noGrp="1"/>
          </p:cNvSpPr>
          <p:nvPr/>
        </p:nvSpPr>
        <p:spPr>
          <a:xfrm>
            <a:off x="4031480" y="1050000"/>
            <a:ext cx="3400000" cy="44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Badge21"/>
          <p:cNvSpPr txBox="1">
            <a:spLocks noGrp="1"/>
          </p:cNvSpPr>
          <p:nvPr/>
        </p:nvSpPr>
        <p:spPr>
          <a:xfrm>
            <a:off x="4631480" y="1150000"/>
            <a:ext cx="2200000" cy="320000"/>
          </a:xfrm>
          <a:prstGeom prst="rect">
            <a:avLst/>
          </a:prstGeom>
          <a:solidFill>
            <a:srgbClr val="3EB54A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Aiven OpenSearch</a:t>
            </a:r>
          </a:p>
        </p:txBody>
      </p:sp>
      <p:sp>
        <p:nvSpPr>
          <p:cNvPr id="31" name="ArchBody1"/>
          <p:cNvSpPr txBox="1">
            <a:spLocks noGrp="1"/>
          </p:cNvSpPr>
          <p:nvPr/>
        </p:nvSpPr>
        <p:spPr>
          <a:xfrm>
            <a:off x="4181480" y="1650000"/>
            <a:ext cx="3100000" cy="3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icc_images — 8K docs, 1536d HNSW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icc_images_ext — 20K docs, 256d HNSW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icc_sessions — session vectors, 4h TTL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BM25 + k-NN + hybrid on same index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cosinesimil, nmslib engine, ef=100</a:t>
            </a:r>
          </a:p>
        </p:txBody>
      </p:sp>
      <p:sp>
        <p:nvSpPr>
          <p:cNvPr id="12" name="ArchBg2"/>
          <p:cNvSpPr>
            <a:spLocks noGrp="1"/>
          </p:cNvSpPr>
          <p:nvPr/>
        </p:nvSpPr>
        <p:spPr>
          <a:xfrm>
            <a:off x="7651480" y="1050000"/>
            <a:ext cx="3400000" cy="4400000"/>
          </a:xfrm>
          <a:prstGeom prst="roundRect">
            <a:avLst>
              <a:gd name="adj" fmla="val 20000"/>
            </a:avLst>
          </a:prstGeom>
          <a:solidFill>
            <a:srgbClr val="E8F4FB"/>
          </a:solidFill>
          <a:ln w="18000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Badge22"/>
          <p:cNvSpPr txBox="1">
            <a:spLocks noGrp="1"/>
          </p:cNvSpPr>
          <p:nvPr/>
        </p:nvSpPr>
        <p:spPr>
          <a:xfrm>
            <a:off x="8251480" y="1150000"/>
            <a:ext cx="2200000" cy="320000"/>
          </a:xfrm>
          <a:prstGeom prst="rect">
            <a:avLst/>
          </a:prstGeom>
          <a:solidFill>
            <a:srgbClr val="FBAE4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LLM chain (trace only)</a:t>
            </a:r>
          </a:p>
        </p:txBody>
      </p:sp>
      <p:sp>
        <p:nvSpPr>
          <p:cNvPr id="32" name="ArchBody2"/>
          <p:cNvSpPr txBox="1">
            <a:spLocks noGrp="1"/>
          </p:cNvSpPr>
          <p:nvPr/>
        </p:nvSpPr>
        <p:spPr>
          <a:xfrm>
            <a:off x="7801480" y="1650000"/>
            <a:ext cx="3100000" cy="3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Primary: NVIDIA NIM llama-3.1-8b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2 attempts, 2-min timeout each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Fallback: OpenAI gpt-4o-mini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Last resort: scripted trace (0ms)</a:t>
            </a:r>
          </a:p>
          <a:p>
            <a:pPr algn="l" marL="228600" indent="-22860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373839"/>
                </a:solidFill>
              </a:rPr>
              <a:t>TRACE_MODE=scripted on stage</a:t>
            </a:r>
          </a:p>
        </p:txBody>
      </p:sp>
      <p:sp>
        <p:nvSpPr>
          <p:cNvPr id="40" name="KeyMsg"/>
          <p:cNvSpPr txBox="1">
            <a:spLocks noGrp="1"/>
          </p:cNvSpPr>
          <p:nvPr/>
        </p:nvSpPr>
        <p:spPr>
          <a:xfrm>
            <a:off x="411480" y="5600000"/>
            <a:ext cx="1136904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5395A"/>
                </a:solidFill>
              </a:rPr>
              <a:t>OpenSearch is not a passive index. It is a vector reasoning substrate — the foundation on which cognition operates.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/>
        </p:nvSpPr>
        <p:spPr>
          <a:xfrm>
            <a:off x="333845" y="281562"/>
            <a:ext cx="10834898" cy="5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395A"/>
                </a:solidFill>
              </a:rPr>
              <a:t>Three things to take back to your team</a:t>
            </a:r>
          </a:p>
        </p:txBody>
      </p:sp>
      <p:sp>
        <p:nvSpPr>
          <p:cNvPr id="10" name="TBg0"/>
          <p:cNvSpPr>
            <a:spLocks noGrp="1"/>
          </p:cNvSpPr>
          <p:nvPr/>
        </p:nvSpPr>
        <p:spPr>
          <a:xfrm>
            <a:off x="411480" y="1050000"/>
            <a:ext cx="11369040" cy="1350000"/>
          </a:xfrm>
          <a:prstGeom prst="roundRect">
            <a:avLst>
              <a:gd name="adj" fmla="val 15000"/>
            </a:avLst>
          </a:prstGeom>
          <a:solidFill>
            <a:srgbClr val="E8F4FB"/>
          </a:solidFill>
          <a:ln w="18000">
            <a:solidFill>
              <a:srgbClr val="3070B5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Badge20"/>
          <p:cNvSpPr txBox="1">
            <a:spLocks noGrp="1"/>
          </p:cNvSpPr>
          <p:nvPr/>
        </p:nvSpPr>
        <p:spPr>
          <a:xfrm>
            <a:off x="561480" y="1575000"/>
            <a:ext cx="900000" cy="300000"/>
          </a:xfrm>
          <a:prstGeom prst="rect">
            <a:avLst/>
          </a:prstGeom>
          <a:solidFill>
            <a:srgbClr val="3070B5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Intent</a:t>
            </a:r>
          </a:p>
        </p:txBody>
      </p:sp>
      <p:sp>
        <p:nvSpPr>
          <p:cNvPr id="30" name="THead0"/>
          <p:cNvSpPr txBox="1">
            <a:spLocks noGrp="1"/>
          </p:cNvSpPr>
          <p:nvPr/>
        </p:nvSpPr>
        <p:spPr>
          <a:xfrm>
            <a:off x="1611480" y="1200000"/>
            <a:ext cx="9969040" cy="4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5395A"/>
                </a:solidFill>
              </a:rPr>
              <a:t>Encode what users mean, not what they type</a:t>
            </a:r>
          </a:p>
        </p:txBody>
      </p:sp>
      <p:sp>
        <p:nvSpPr>
          <p:cNvPr id="31" name="TBody0"/>
          <p:cNvSpPr txBox="1">
            <a:spLocks noGrp="1"/>
          </p:cNvSpPr>
          <p:nvPr/>
        </p:nvSpPr>
        <p:spPr>
          <a:xfrm>
            <a:off x="1611480" y="1670000"/>
            <a:ext cx="996904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text-embedding-3-small → knn_vector → cosine similarity. Same index, new contract.</a:t>
            </a:r>
          </a:p>
        </p:txBody>
      </p:sp>
      <p:sp>
        <p:nvSpPr>
          <p:cNvPr id="11" name="TBg1"/>
          <p:cNvSpPr>
            <a:spLocks noGrp="1"/>
          </p:cNvSpPr>
          <p:nvPr/>
        </p:nvSpPr>
        <p:spPr>
          <a:xfrm>
            <a:off x="411480" y="2550000"/>
            <a:ext cx="11369040" cy="1350000"/>
          </a:xfrm>
          <a:prstGeom prst="roundRect">
            <a:avLst>
              <a:gd name="adj" fmla="val 15000"/>
            </a:avLst>
          </a:prstGeom>
          <a:solidFill>
            <a:srgbClr val="E8F4FB"/>
          </a:solidFill>
          <a:ln w="18000">
            <a:solidFill>
              <a:srgbClr val="3EB54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Badge21"/>
          <p:cNvSpPr txBox="1">
            <a:spLocks noGrp="1"/>
          </p:cNvSpPr>
          <p:nvPr/>
        </p:nvSpPr>
        <p:spPr>
          <a:xfrm>
            <a:off x="561480" y="3075000"/>
            <a:ext cx="900000" cy="300000"/>
          </a:xfrm>
          <a:prstGeom prst="rect">
            <a:avLst/>
          </a:prstGeom>
          <a:solidFill>
            <a:srgbClr val="3EB54A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31" name="THead1"/>
          <p:cNvSpPr txBox="1">
            <a:spLocks noGrp="1"/>
          </p:cNvSpPr>
          <p:nvPr/>
        </p:nvSpPr>
        <p:spPr>
          <a:xfrm>
            <a:off x="1611480" y="2700000"/>
            <a:ext cx="9969040" cy="4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5395A"/>
                </a:solidFill>
              </a:rPr>
              <a:t>Session state is a correctness requirement</a:t>
            </a:r>
          </a:p>
        </p:txBody>
      </p:sp>
      <p:sp>
        <p:nvSpPr>
          <p:cNvPr id="32" name="TBody1"/>
          <p:cNvSpPr txBox="1">
            <a:spLocks noGrp="1"/>
          </p:cNvSpPr>
          <p:nvPr/>
        </p:nvSpPr>
        <p:spPr>
          <a:xfrm>
            <a:off x="1611480" y="3170000"/>
            <a:ext cx="996904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Recency-weighted vector accumulation. No LLM. Pure OpenSearch math.</a:t>
            </a:r>
          </a:p>
        </p:txBody>
      </p:sp>
      <p:sp>
        <p:nvSpPr>
          <p:cNvPr id="12" name="TBg2"/>
          <p:cNvSpPr>
            <a:spLocks noGrp="1"/>
          </p:cNvSpPr>
          <p:nvPr/>
        </p:nvSpPr>
        <p:spPr>
          <a:xfrm>
            <a:off x="411480" y="4050000"/>
            <a:ext cx="11369040" cy="1350000"/>
          </a:xfrm>
          <a:prstGeom prst="roundRect">
            <a:avLst>
              <a:gd name="adj" fmla="val 15000"/>
            </a:avLst>
          </a:prstGeom>
          <a:solidFill>
            <a:srgbClr val="E8F4FB"/>
          </a:solidFill>
          <a:ln w="18000">
            <a:solidFill>
              <a:srgbClr val="FBAE4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Badge22"/>
          <p:cNvSpPr txBox="1">
            <a:spLocks noGrp="1"/>
          </p:cNvSpPr>
          <p:nvPr/>
        </p:nvSpPr>
        <p:spPr>
          <a:xfrm>
            <a:off x="561480" y="4575000"/>
            <a:ext cx="900000" cy="300000"/>
          </a:xfrm>
          <a:prstGeom prst="rect">
            <a:avLst/>
          </a:prstGeom>
          <a:solidFill>
            <a:srgbClr val="FBAE40"/>
          </a:solidFill>
          <a:ln>
            <a:noFill/>
          </a:ln>
        </p:spPr>
        <p:txBody>
          <a:bodyPr spcFirstLastPara="0" wrap="square" lIns="91440" tIns="45720" rIns="91440" bIns="4572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Cognition</a:t>
            </a:r>
          </a:p>
        </p:txBody>
      </p:sp>
      <p:sp>
        <p:nvSpPr>
          <p:cNvPr id="32" name="THead2"/>
          <p:cNvSpPr txBox="1">
            <a:spLocks noGrp="1"/>
          </p:cNvSpPr>
          <p:nvPr/>
        </p:nvSpPr>
        <p:spPr>
          <a:xfrm>
            <a:off x="1611480" y="4200000"/>
            <a:ext cx="9969040" cy="4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5395A"/>
                </a:solidFill>
              </a:rPr>
              <a:t>Orchestrate before you retrieve</a:t>
            </a:r>
          </a:p>
        </p:txBody>
      </p:sp>
      <p:sp>
        <p:nvSpPr>
          <p:cNvPr id="33" name="TBody2"/>
          <p:cNvSpPr txBox="1">
            <a:spLocks noGrp="1"/>
          </p:cNvSpPr>
          <p:nvPr/>
        </p:nvSpPr>
        <p:spPr>
          <a:xfrm>
            <a:off x="1611480" y="4670000"/>
            <a:ext cx="9969040" cy="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73839"/>
                </a:solidFill>
              </a:rPr>
              <a:t>LLM decomposes ambiguous queries → parallel k-NN → merge. OpenSearch as reasoning substrate.</a:t>
            </a:r>
          </a:p>
        </p:txBody>
      </p:sp>
      <p:sp>
        <p:nvSpPr>
          <p:cNvPr id="40" name="QRBox"/>
          <p:cNvSpPr>
            <a:spLocks noGrp="1"/>
          </p:cNvSpPr>
          <p:nvPr/>
        </p:nvSpPr>
        <p:spPr>
          <a:xfrm>
            <a:off x="411480" y="5250000"/>
            <a:ext cx="2200000" cy="1500000"/>
          </a:xfrm>
          <a:prstGeom prst="roundRect">
            <a:avLst>
              <a:gd name="adj" fmla="val 10000"/>
            </a:avLst>
          </a:prstGeom>
          <a:solidFill>
            <a:srgbClr val="D0E4F0"/>
          </a:solidFill>
          <a:ln w="9525">
            <a:solidFill>
              <a:srgbClr val="15395A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1" name="QRLbl"/>
          <p:cNvSpPr txBox="1">
            <a:spLocks noGrp="1"/>
          </p:cNvSpPr>
          <p:nvPr/>
        </p:nvSpPr>
        <p:spPr>
          <a:xfrm>
            <a:off x="511480" y="535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5395A"/>
                </a:solidFill>
              </a:rPr>
              <a:t>Scan to try the demo</a:t>
            </a:r>
          </a:p>
        </p:txBody>
      </p:sp>
      <p:sp>
        <p:nvSpPr>
          <p:cNvPr id="42" name="QRURL"/>
          <p:cNvSpPr txBox="1">
            <a:spLocks noGrp="1"/>
          </p:cNvSpPr>
          <p:nvPr/>
        </p:nvSpPr>
        <p:spPr>
          <a:xfrm>
            <a:off x="511480" y="578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3070B5"/>
                </a:solidFill>
                <a:latin typeface="Consolas"/>
              </a:rPr>
              <a:t>intent-context-cognition.vercel.app</a:t>
            </a:r>
          </a:p>
        </p:txBody>
      </p:sp>
      <p:sp>
        <p:nvSpPr>
          <p:cNvPr id="43" name="FinalLine"/>
          <p:cNvSpPr txBox="1">
            <a:spLocks noGrp="1"/>
          </p:cNvSpPr>
          <p:nvPr/>
        </p:nvSpPr>
        <p:spPr>
          <a:xfrm>
            <a:off x="2811480" y="5450000"/>
            <a:ext cx="8969040" cy="8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40" tIns="45720" rIns="91440" bIns="45720" anchor="t" anchorCtr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15395A"/>
                </a:solidFill>
              </a:rPr>
              <a:t>"Search finds. Reveal discovers."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070B5"/>
                </a:solidFill>
              </a:rPr>
              <a:t>github.com/rajanim/intent-context-cognition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</Words>
  <Application>Microsoft Office PowerPoint</Application>
  <PresentationFormat>Widescreen</PresentationFormat>
  <Paragraphs>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Custom Design</vt:lpstr>
      <vt:lpstr>Office Theme</vt:lpstr>
      <vt:lpstr>PowerPoint Presentation</vt:lpstr>
      <vt:lpstr>Click to add Title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Craig Ross</cp:lastModifiedBy>
  <cp:revision>7</cp:revision>
  <dcterms:created xsi:type="dcterms:W3CDTF">2016-08-09T14:32:52Z</dcterms:created>
  <dcterms:modified xsi:type="dcterms:W3CDTF">2025-10-29T13:56:46Z</dcterms:modified>
</cp:coreProperties>
</file>